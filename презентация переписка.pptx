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BCEA"/>
    <a:srgbClr val="134E6F"/>
    <a:srgbClr val="E5F4F7"/>
    <a:srgbClr val="FBE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26" y="1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528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Тема моего выступления — современная деловая электронная переписка. За восемь минут мы разберём, какие бывают деловые письма, как их правильно строить и оформлять, какие правила этикета стоит соблюдать и каких ошибок лучше избегать.
Основой выступления стала статья Валентины Васильевой «Правила деловой переписки по электронной почте».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Начнём с главного вопроса: почему это вообще важно? Электронная почта остаётся основным инструментом делового общения, несмотря на мессенджеры. С переходом на удалённый и гибридный формат работы письмо часто заменяет личную встречу.
Мы можем годами не видеть коллегу или партнёра, и тогда о нашем профессионализме он судит именно по письмам. Поэтому умение писать грамотно и по правилам — это не формальность, а часть нашей репутации. Оно помогает выстраивать доверие, экономить время и, как отмечает автор, положительно влияет на карьерный рост.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чем писать, нужно понять, какое письмо перед нами. Автор выделяет пять типов.
Первый — внутренняя переписка между сотрудниками и отделами: от рабочих обсуждений до заявлений на отпуск и приказов. Второй — внешняя переписка с другими компаниями, госорганами, клиентами и поставщиками: договоры, счета, заказы, рекомендательные письма.
Третий — коммерческая переписка, связанная с продажами. Для рекламных писем главное правило — информация должна быть правдивой и не вводить в заблуждение. Четвёртый — личная переписка: поздравления, благодарности, просьбы; здесь допустим неформальный тон. И пятый — циркуляры, то есть служебные объявления, которые рассылаются сразу большому числу сотрудников.
Тип письма определяет, насколько официальным должен быть наш тон.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том, как устроено хорошее письмо. Классическое деловое письмо включает сведения об отправителе, дату, адресата, приветствие, основной текст, прощание и подпись с контактами.
Сам текст лучше строить по простой схеме из трёх частей. Сначала приветствие: обращение по имени и цель письма. Затем суть вопроса — коротко и точно. И в финале — предложения по дальнейшим шагам и контакты для связи.
Есть и практические ориентиры: письмо не должно быть длиннее одной страницы формата А4, а абзац лучше ограничить тремя предложениями. Для официальных документов в России действует ГОСТ Р 7.0.97–2016. Он придаёт письмам юридическую значимость и рекомендует шрифт размером 12–14 пунктов и межстрочный интервал один или полтора.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несколько правил оформления, которые сильно облегчают жизнь адресату.
Первое: одно письмо — одна идея. Если смешать в письме несколько вопросов, часть из них почти наверняка потеряется. Для каждой новой темы лучше начинать отдельную цепочку.
Второе: тема письма. Вместо расплывчатого «Сотрудничество» лучше написать «Предложение о партнёрстве с нашим изданием». А слова «Срочно» и «Важно» в теме автор считает невежливыми и неинформативными.
Третье: аккуратное форматирование. Используйте абзацы и один шрифт, не пишите заглавными буквами — это воспринимается как крик.
Четвёртое: вложения. Называйте файлы осмысленно — «logotype», а не «IMG568909865», объясняйте в тексте, зачем вы их приложили, а если файлов больше пяти, лучше отправьте ссылку на облачное хранилище. И наконец, подпись: полное имя, должность, подразделение и прямой телефон — без сокращений и с корпоративного адреса.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Перейдём к этикету. Первое правило — официальный и тактичный стиль: вежливое приветствие, обращение на «вы», спокойный тон. Шутки, множество смайликов и восклицательных знаков в строго деловой переписке неуместны.
Второе — лаконичность. Длинные фразы и витиеватость отнимают время у читателя, поэтому пишите только то, что нужно для решения вопроса.
Третье — дисциплина переписки: отвечайте в той же цепочке, не меняйте тему без необходимости и, если вам нужен ответ к определённому сроку, прямо об этом напишите.
Четвёртое — уважение к адресату: обращайтесь по имени и отчеству, если вы их знаете, а с иностранными партнёрами общайтесь на их языке.
И пятое — приватность. В адресатах должны быть только те, кому письмо действительно нужно. Нельзя пользоваться скрытой копией или пересылать письмо третьим лицам, не предупредив собеседника.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 поговорим о скорости ответа — это один из самых практичных пунктов статьи.
Если ваша работа связана с клиентами или управлением проектами, отвечать желательно в течение 15–30 минут. Для важных писем в общем случае допустим срок до 10 рабочих дней, но тогда необходимо хотя бы подтвердить получение и сообщить, когда придёт полный ответ.
А если почта — не главная часть ваших обязанностей, можно проверять её дважды в день, например в 11 утра и в 5 вечера. Это защищает от постоянных отвлечений, а для срочных вопросов коллеги всегда могут позвонить или написать в мессенджер.
Не забывайте и про автоответ на время отсутствия: в нём стоит указать, когда вы вернётесь.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типичных ошибках. Во-первых, неясные письма без чёткого итога: читатель не понимает, чего от него ждут.
Во-вторых, грамматические ошибки, штампы и канцелярит — они подрывают репутацию. Причём не стоит полностью полагаться на встроенную проверку орфографии: она пропускает ошибки, поэтому лучше показать текст корректору или проверить в онлайн-сервисах.
В-третьих, профессиональный жаргон и сокращения без расшифровки. В-четвёртых, мессенджерный стиль: «пжлст», «спс», «приветик» и «проблемка» в деловом письме выглядят как неуважение. И, наконец, повторные письма с одним и тем же вопросом — если повтор нужен, лучше переформулировать.
Главный совет: перед тем как нажать «Отправить», перечитайте письмо и убедитесь, что ответили на все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Подведём итоги. Правила деловой переписки в целом просты: чёткая структура, конкретная тема, краткость, вежливый тон, грамотность и уважение ко времени и приватности адресата. Они экономят время обеих сторон и быстрее приводят к результату.
Но главное — каждое письмо показывает ваш профессионализм. В эпоху удалённой работы письмо становится частью личного бренда специалиста.
Тем, кто хочет углубиться в тему, автор рекомендует книги Максима Ильяхова и Людмилы Сарычевой «Пиши и сокращай» и «Новые правила деловой переписки», книгу Норы Галь «Слово живое и мёртвое», а также сервисы «Главред» и «Грамота.ру».
Спасибо за внимание! Буду рад(а)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Подведём итоги. Правила деловой переписки в целом просты: чёткая структура, конкретная тема, краткость, вежливый тон, грамотность и уважение ко времени и приватности адресата. Они экономят время обеих сторон и быстрее приводят к результату.
Но главное — каждое письмо показывает ваш профессионализм. В эпоху удалённой работы письмо становится частью личного бренда специалиста.
Тем, кто хочет углубиться в тему, автор рекомендует книги Максима Ильяхова и Людмилы Сарычевой «Пиши и сокращай» и «Новые правила деловой переписки», книгу Норы Галь «Слово живое и мёртвое», а также сервисы «Главред» и «Грамота.ру».
Спасибо за внимание! Буду рад(а)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28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640080"/>
            <a:ext cx="2560320" cy="256032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926080"/>
            <a:ext cx="1371600" cy="1371600"/>
          </a:xfrm>
          <a:prstGeom prst="ellipse">
            <a:avLst/>
          </a:prstGeom>
          <a:solidFill>
            <a:srgbClr val="DCBCEA">
              <a:alpha val="89804"/>
            </a:srgbClr>
          </a:solidFill>
          <a:ln w="12700">
            <a:noFill/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5726" y="178308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Современная деловая электронная переписка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важно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Удалённая и гибридная работа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остаётся основным каналом делового общения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898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7580" y="16916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75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9758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Письмо заменяет встречу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9758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профессионализме судят по тексту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Репутация и карьера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партнёров, экономия времени, рост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Виды деловой переписки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320040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сотрудниками: приказы, заявления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25980" y="1371600"/>
            <a:ext cx="1554480" cy="320040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3140" y="1554480"/>
            <a:ext cx="457200" cy="457200"/>
          </a:xfrm>
          <a:prstGeom prst="ellipse">
            <a:avLst/>
          </a:prstGeom>
          <a:solidFill>
            <a:srgbClr val="DCBCEA"/>
          </a:solidFill>
          <a:ln w="12700">
            <a:noFill/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631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4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>
              <a:solidFill>
                <a:srgbClr val="134E6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171700" y="21945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17420" y="265176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Клиенты, партнёры, госорганы: договоры, счета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94760" y="1371600"/>
            <a:ext cx="1554480" cy="320040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554480"/>
            <a:ext cx="457200" cy="4572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1945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65176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и реклама. Информация — правдивая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3540" y="1371600"/>
            <a:ext cx="1554480" cy="320040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00700" y="1554480"/>
            <a:ext cx="457200" cy="457200"/>
          </a:xfrm>
          <a:prstGeom prst="ellipse">
            <a:avLst/>
          </a:prstGeom>
          <a:solidFill>
            <a:srgbClr val="DCBCEA"/>
          </a:solidFill>
          <a:ln w="12700">
            <a:noFill/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007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4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>
              <a:solidFill>
                <a:srgbClr val="134E6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509260" y="21945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54980" y="265176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Поздравления, благодарности. Тон может быть неформальным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1371600"/>
            <a:ext cx="1554480" cy="320040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554480"/>
            <a:ext cx="457200" cy="4572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1945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Циркуляры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65176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Объявления для большого числа сотрудников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письма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807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5234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523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4122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Приветствие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0698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по имени и цель письма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819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65354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535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0134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Суть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6710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— кратко и точно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831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5474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2547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6146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Финал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2722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 и контакты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1468074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1468074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стр.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55258" y="1468074"/>
            <a:ext cx="18401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А4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максимум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0" y="2428194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06440" y="2428194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755258" y="2428194"/>
            <a:ext cx="18401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предложения в абзаце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3388314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06440" y="3388314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12–14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846698" y="3388314"/>
            <a:ext cx="18401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размер шрифта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оформления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письмо — одна идея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116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тема — новая цепочка писем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463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Конкретная тема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0116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«С</a:t>
            </a:r>
            <a:r>
              <a:rPr lang="ru-RU" sz="1400" dirty="0" err="1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отрудничество</a:t>
            </a: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», а «Предложение о партнёрстве с нашим изданием»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Осмысленные вложения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«logotype», а не «IMG568909865». Больше 5 файлов — ссылка на облако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Полная подпись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ФИО, должность, подразделение, телефон. Только корпоративная почта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Этикет деловой переписки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903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Официальный тон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3258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«вы», спокойно, без шуток и смайликов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7568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Лаконичность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0025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то, что нужно для решения вопроса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79192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52344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7919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цепочка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267919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менять тему, указывать срок ответа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35584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29000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3558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Уважение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33558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и отчество, язык адресата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032504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1056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0325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Приватность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40325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нужные адресаты, без скрытой копии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Скорость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ответа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34E6F"/>
          </a:solidFill>
          <a:ln w="12700">
            <a:solidFill>
              <a:srgbClr val="134E6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CB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</a:t>
            </a:r>
            <a:endParaRPr lang="en-US" sz="4400" dirty="0">
              <a:solidFill>
                <a:srgbClr val="DCBCEA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580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 — ответ клиенту или по проекту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8980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34E6F"/>
          </a:solidFill>
          <a:ln w="12700">
            <a:solidFill>
              <a:srgbClr val="134E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7580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CB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>
              <a:solidFill>
                <a:srgbClr val="DCBCEA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9758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дней — максимум для важных писем, но подтвердите получение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34E6F"/>
          </a:solidFill>
          <a:ln w="12700">
            <a:solidFill>
              <a:srgbClr val="134E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CB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400" dirty="0">
              <a:solidFill>
                <a:srgbClr val="DCBCEA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0936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день можно проверять почту, если она не основная работа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Уходите в отпуск — настройте автоответ с датой возвращения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Типичные ошибки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пишите так: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FBE3E1"/>
          </a:solidFill>
          <a:ln w="12700">
            <a:solidFill>
              <a:srgbClr val="FBE3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strike="sngStrike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пжлст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14600" y="178308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FBE3E1"/>
          </a:solidFill>
          <a:ln w="12700">
            <a:solidFill>
              <a:srgbClr val="FBE3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1783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strike="sngStrike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FBE3E1"/>
          </a:solidFill>
          <a:ln w="12700">
            <a:solidFill>
              <a:srgbClr val="FBE3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5603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strike="sngStrike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приветик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256032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FBE3E1"/>
          </a:solidFill>
          <a:ln w="12700">
            <a:solidFill>
              <a:srgbClr val="FBE3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25603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strike="sngStrike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проблемка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Ещё подрывают репутацию: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78308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Неясные письма без итога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Ошибки, штампы и канцелярит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Жаргон без расшифровки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Повторы одного и того же вопроса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отправкой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перечитайте письмо и проверьте, что ответили на все вопросы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75369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Письмо — часть личного бренда специалиста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618369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DCBCEA"/>
          </a:solidFill>
          <a:ln w="12700">
            <a:noFill/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618369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Чёткая структура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2560320" y="2618369"/>
            <a:ext cx="1920240" cy="640080"/>
          </a:xfrm>
          <a:prstGeom prst="roundRect">
            <a:avLst>
              <a:gd name="adj" fmla="val 17143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2618369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Конкретная тема</a:t>
            </a:r>
            <a:endParaRPr lang="en-US" sz="1600" b="1" dirty="0">
              <a:solidFill>
                <a:srgbClr val="134E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2618369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DCBCEA"/>
          </a:solidFill>
          <a:ln w="12700">
            <a:noFill/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618369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Краткость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6766560" y="2618369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E5F4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618369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Грамотность</a:t>
            </a:r>
            <a:endParaRPr lang="en-US" sz="1600" b="1" dirty="0">
              <a:solidFill>
                <a:srgbClr val="134E6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299CC82-B32C-C4EB-DE0E-4C170D77F7BC}"/>
              </a:ext>
            </a:extLst>
          </p:cNvPr>
          <p:cNvSpPr txBox="1"/>
          <p:nvPr/>
        </p:nvSpPr>
        <p:spPr>
          <a:xfrm>
            <a:off x="1330503" y="2217807"/>
            <a:ext cx="6482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21276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1620</Words>
  <Application>Microsoft Office PowerPoint</Application>
  <PresentationFormat>Экран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Современная деловая электронная переписка</dc:title>
  <dc:subject>PptxGenJS Presentation</dc:subject>
  <dc:creator>PptxGenJS</dc:creator>
  <cp:lastModifiedBy>Anyuta</cp:lastModifiedBy>
  <cp:revision>3</cp:revision>
  <dcterms:created xsi:type="dcterms:W3CDTF">2026-10-12T19:38:02Z</dcterms:created>
  <dcterms:modified xsi:type="dcterms:W3CDTF">2026-10-12T22:30:32Z</dcterms:modified>
</cp:coreProperties>
</file>