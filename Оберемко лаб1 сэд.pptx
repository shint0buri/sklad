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D42"/>
    <a:srgbClr val="114D53"/>
    <a:srgbClr val="DC8442"/>
    <a:srgbClr val="2F1A03"/>
    <a:srgbClr val="663806"/>
    <a:srgbClr val="B97F53"/>
    <a:srgbClr val="573405"/>
    <a:srgbClr val="655545"/>
    <a:srgbClr val="075A65"/>
    <a:srgbClr val="6E55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5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9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41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0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247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96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46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96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69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80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00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46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6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rgbClr val="6E5542"/>
            </a:gs>
            <a:gs pos="0">
              <a:schemeClr val="tx1"/>
            </a:gs>
            <a:gs pos="10000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80130-3DD6-4A2C-AF72-9CB802FF4A51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99195-F1B3-4782-A8A5-B0EF87DC27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40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372086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  <a:latin typeface="Century Schoolbook" panose="02040604050505020304" pitchFamily="18" charset="0"/>
              </a:rPr>
              <a:t>Организация электронного документооборота и совместной работы с документами.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029317"/>
            <a:ext cx="9144000" cy="1655762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Century Schoolbook" panose="02040604050505020304" pitchFamily="18" charset="0"/>
              </a:rPr>
              <a:t>Полный цикл: от входящего документа до результата.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53755" y="4454769"/>
            <a:ext cx="40210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Подготовила: </a:t>
            </a:r>
          </a:p>
          <a:p>
            <a:r>
              <a:rPr lang="ru-RU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студентка 3 курса группы ИСиТ-О-24/4</a:t>
            </a:r>
          </a:p>
          <a:p>
            <a:r>
              <a:rPr lang="ru-RU" sz="28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Оберемко</a:t>
            </a:r>
            <a:r>
              <a:rPr lang="ru-RU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 Анна</a:t>
            </a:r>
          </a:p>
        </p:txBody>
      </p:sp>
    </p:spTree>
    <p:extLst>
      <p:ext uri="{BB962C8B-B14F-4D97-AF65-F5344CB8AC3E}">
        <p14:creationId xmlns:p14="http://schemas.microsoft.com/office/powerpoint/2010/main" val="378830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868" y="164121"/>
            <a:ext cx="11498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  <a:ea typeface="+mj-ea"/>
                <a:cs typeface="+mj-cs"/>
              </a:rPr>
              <a:t>Начало пути: </a:t>
            </a:r>
            <a:r>
              <a:rPr lang="ru-RU" sz="5400" dirty="0" smtClean="0">
                <a:solidFill>
                  <a:schemeClr val="bg1"/>
                </a:solidFill>
                <a:latin typeface="Century Schoolbook" panose="02040604050505020304" pitchFamily="18" charset="0"/>
                <a:ea typeface="+mj-ea"/>
                <a:cs typeface="+mj-cs"/>
              </a:rPr>
              <a:t>входящий </a:t>
            </a:r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  <a:ea typeface="+mj-ea"/>
                <a:cs typeface="+mj-cs"/>
              </a:rPr>
              <a:t>документ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9114" y="1406769"/>
            <a:ext cx="113474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Источник поступления:</a:t>
            </a:r>
            <a:r>
              <a:rPr lang="ru-RU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внешние или внутренние корреспонденты</a:t>
            </a:r>
            <a:r>
              <a:rPr lang="ru-RU" sz="28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</a:p>
          <a:p>
            <a:endParaRPr lang="ru-RU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99114" y="2829857"/>
            <a:ext cx="11500264" cy="655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Первичная обработка:</a:t>
            </a:r>
            <a:r>
              <a:rPr lang="ru-RU" sz="28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проверка целостности и комплектности</a:t>
            </a:r>
            <a:r>
              <a:rPr lang="ru-RU" sz="28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8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9114" y="3747934"/>
            <a:ext cx="115002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Фиксация:</a:t>
            </a:r>
            <a:r>
              <a:rPr lang="ru-RU" sz="28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 документ поступает в организацию и требует регистрации.</a:t>
            </a:r>
          </a:p>
          <a:p>
            <a:endParaRPr lang="ru-RU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763269" y="5304269"/>
            <a:ext cx="102781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Цель этапа: не потерять документ и начать его путь в системе.</a:t>
            </a:r>
          </a:p>
          <a:p>
            <a:endParaRPr lang="ru-RU" sz="3200" b="1" dirty="0"/>
          </a:p>
        </p:txBody>
      </p:sp>
      <p:sp>
        <p:nvSpPr>
          <p:cNvPr id="7" name="Ромб 6"/>
          <p:cNvSpPr/>
          <p:nvPr/>
        </p:nvSpPr>
        <p:spPr>
          <a:xfrm>
            <a:off x="182074" y="1691640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омб 7"/>
          <p:cNvSpPr/>
          <p:nvPr/>
        </p:nvSpPr>
        <p:spPr>
          <a:xfrm>
            <a:off x="196025" y="3080737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Ромб 8"/>
          <p:cNvSpPr/>
          <p:nvPr/>
        </p:nvSpPr>
        <p:spPr>
          <a:xfrm>
            <a:off x="181763" y="4066134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82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470" y="160020"/>
            <a:ext cx="112422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Регистрация и создание карточки документа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47526"/>
            <a:ext cx="122818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Результат: документ зафиксирован в системе и доступен для постановки задач.</a:t>
            </a:r>
          </a:p>
          <a:p>
            <a:endParaRPr lang="ru-RU" sz="32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388061" y="2333997"/>
            <a:ext cx="8562235" cy="830997"/>
            <a:chOff x="388061" y="2333997"/>
            <a:chExt cx="8562235" cy="830997"/>
          </a:xfrm>
        </p:grpSpPr>
        <p:sp>
          <p:nvSpPr>
            <p:cNvPr id="3" name="TextBox 2"/>
            <p:cNvSpPr txBox="1"/>
            <p:nvPr/>
          </p:nvSpPr>
          <p:spPr>
            <a:xfrm>
              <a:off x="753821" y="2333997"/>
              <a:ext cx="819647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400" dirty="0">
                  <a:solidFill>
                    <a:schemeClr val="bg1"/>
                  </a:solidFill>
                  <a:latin typeface="Century Schoolbook" panose="02040604050505020304" pitchFamily="18" charset="0"/>
                </a:rPr>
                <a:t>Присвоение уникального </a:t>
              </a:r>
              <a:r>
                <a:rPr lang="ru-RU" sz="2400" dirty="0" smtClean="0">
                  <a:solidFill>
                    <a:schemeClr val="bg1"/>
                  </a:solidFill>
                  <a:latin typeface="Century Schoolbook" panose="02040604050505020304" pitchFamily="18" charset="0"/>
                </a:rPr>
                <a:t>номера</a:t>
              </a:r>
              <a:r>
                <a:rPr lang="ru-RU" sz="2400" dirty="0">
                  <a:solidFill>
                    <a:schemeClr val="bg1"/>
                  </a:solidFill>
                  <a:latin typeface="Century Schoolbook" panose="02040604050505020304" pitchFamily="18" charset="0"/>
                </a:rPr>
                <a:t> каждому документу</a:t>
              </a:r>
              <a:r>
                <a:rPr lang="ru-RU" sz="2400" dirty="0" smtClean="0">
                  <a:solidFill>
                    <a:schemeClr val="bg1"/>
                  </a:solidFill>
                  <a:latin typeface="Century Schoolbook" panose="02040604050505020304" pitchFamily="18" charset="0"/>
                </a:rPr>
                <a:t>.</a:t>
              </a:r>
              <a:br>
                <a:rPr lang="ru-RU" sz="2400" dirty="0" smtClean="0">
                  <a:solidFill>
                    <a:schemeClr val="bg1"/>
                  </a:solidFill>
                  <a:latin typeface="Century Schoolbook" panose="02040604050505020304" pitchFamily="18" charset="0"/>
                </a:rPr>
              </a:br>
              <a:endParaRPr lang="ru-RU" sz="2400" dirty="0">
                <a:solidFill>
                  <a:schemeClr val="bg1"/>
                </a:solidFill>
                <a:latin typeface="Century Schoolbook" panose="02040604050505020304" pitchFamily="18" charset="0"/>
              </a:endParaRPr>
            </a:p>
          </p:txBody>
        </p:sp>
        <p:sp>
          <p:nvSpPr>
            <p:cNvPr id="7" name="Ромб 6"/>
            <p:cNvSpPr/>
            <p:nvPr/>
          </p:nvSpPr>
          <p:spPr>
            <a:xfrm>
              <a:off x="388061" y="2455188"/>
              <a:ext cx="229095" cy="217170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  <p:grpSp>
        <p:nvGrpSpPr>
          <p:cNvPr id="13" name="Группа 12"/>
          <p:cNvGrpSpPr/>
          <p:nvPr/>
        </p:nvGrpSpPr>
        <p:grpSpPr>
          <a:xfrm>
            <a:off x="388060" y="3984949"/>
            <a:ext cx="12187638" cy="461665"/>
            <a:chOff x="388060" y="4340870"/>
            <a:chExt cx="12187638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753821" y="4340870"/>
              <a:ext cx="118218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dirty="0">
                  <a:solidFill>
                    <a:schemeClr val="bg1"/>
                  </a:solidFill>
                  <a:latin typeface="Century Schoolbook" panose="02040604050505020304" pitchFamily="18" charset="0"/>
                </a:rPr>
                <a:t>Создание электронной карточки: основа для дальнейшей работы</a:t>
              </a:r>
              <a:r>
                <a:rPr lang="ru-RU" sz="2400" dirty="0" smtClean="0">
                  <a:solidFill>
                    <a:schemeClr val="bg1"/>
                  </a:solidFill>
                  <a:latin typeface="Century Schoolbook" panose="02040604050505020304" pitchFamily="18" charset="0"/>
                </a:rPr>
                <a:t>.</a:t>
              </a:r>
              <a:endParaRPr lang="ru-RU" sz="2400" dirty="0">
                <a:solidFill>
                  <a:schemeClr val="bg1"/>
                </a:solidFill>
                <a:latin typeface="Century Schoolbook" panose="02040604050505020304" pitchFamily="18" charset="0"/>
              </a:endParaRPr>
            </a:p>
          </p:txBody>
        </p:sp>
        <p:sp>
          <p:nvSpPr>
            <p:cNvPr id="9" name="Ромб 8"/>
            <p:cNvSpPr/>
            <p:nvPr/>
          </p:nvSpPr>
          <p:spPr>
            <a:xfrm>
              <a:off x="388060" y="4455320"/>
              <a:ext cx="229095" cy="217170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400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753821" y="3131879"/>
            <a:ext cx="10874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Заполнение атрибутов: автор, дата, корреспондент, краткое содержание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0" name="Ромб 9"/>
          <p:cNvSpPr/>
          <p:nvPr/>
        </p:nvSpPr>
        <p:spPr>
          <a:xfrm>
            <a:off x="387135" y="3272455"/>
            <a:ext cx="230020" cy="226032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33834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470" y="160020"/>
            <a:ext cx="112422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Постановка задач и выдача поручений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98" y="5272743"/>
            <a:ext cx="122818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Результат: </a:t>
            </a:r>
            <a:r>
              <a:rPr lang="ru-RU" sz="3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документ превращается в конкретные задачи для сотрудников.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" y="2044542"/>
            <a:ext cx="113880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Рассмотрение документа: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руководитель или ответственный изучает поступивший документ.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Наложение резолюции: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определение исполнителей и сроков.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Создание поручений: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формирование задач для сотрудников в СЭД.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Установка сроков: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контрольные даты исполнения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80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3020" y="91440"/>
            <a:ext cx="95336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Этап исполнения: работа над задачей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8265" y="2224355"/>
            <a:ext cx="8975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Получение задачи: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исполнитель видит поручение в СЭД.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8265" y="3130749"/>
            <a:ext cx="1050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Подготовка ответа: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сбор информации, создание проекта документа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8265" y="4055723"/>
            <a:ext cx="10875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Взаимодействие: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при необходимости — запросы коллегам, уточнения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5087" y="5120640"/>
            <a:ext cx="109895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Промежуточный результат: готовый проект ответа или документа</a:t>
            </a:r>
            <a:r>
              <a:rPr lang="ru-RU" sz="3200" b="1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32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Ромб 6"/>
          <p:cNvSpPr/>
          <p:nvPr/>
        </p:nvSpPr>
        <p:spPr>
          <a:xfrm>
            <a:off x="394627" y="2346603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Ромб 7"/>
          <p:cNvSpPr/>
          <p:nvPr/>
        </p:nvSpPr>
        <p:spPr>
          <a:xfrm>
            <a:off x="394626" y="3260393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Ромб 8"/>
          <p:cNvSpPr/>
          <p:nvPr/>
        </p:nvSpPr>
        <p:spPr>
          <a:xfrm>
            <a:off x="394626" y="4174183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145422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93799" y="0"/>
            <a:ext cx="12687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Совместная работа над документом (</a:t>
            </a:r>
            <a:r>
              <a:rPr lang="ru-RU" sz="54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SharePoint</a:t>
            </a:r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470" y="1987212"/>
            <a:ext cx="7055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Единое рабочее пространство: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доступ для всех участников процесса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69" y="3015194"/>
            <a:ext cx="6776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Коллективное редактирование: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одновременная работа над документом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7469" y="4384652"/>
            <a:ext cx="6776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Обсуждение: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решение возникающих вопросов в процессе работы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8134" y="5763813"/>
            <a:ext cx="102034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Результат: согласованный проект документа</a:t>
            </a:r>
            <a:r>
              <a:rPr lang="ru-RU" sz="3200" b="1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32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155" y="1754326"/>
            <a:ext cx="3588483" cy="3588483"/>
          </a:xfrm>
          <a:prstGeom prst="rect">
            <a:avLst/>
          </a:prstGeom>
          <a:noFill/>
          <a:effectLst>
            <a:outerShdw blurRad="139700" dist="228600" dir="2400000" sx="97000" sy="97000" algn="ctr" rotWithShape="0">
              <a:schemeClr val="tx1">
                <a:lumMod val="85000"/>
                <a:lumOff val="15000"/>
                <a:alpha val="91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Ромб 9"/>
          <p:cNvSpPr/>
          <p:nvPr/>
        </p:nvSpPr>
        <p:spPr>
          <a:xfrm>
            <a:off x="394627" y="2121067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Ромб 10"/>
          <p:cNvSpPr/>
          <p:nvPr/>
        </p:nvSpPr>
        <p:spPr>
          <a:xfrm>
            <a:off x="389450" y="3167597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2" name="Ромб 11"/>
          <p:cNvSpPr/>
          <p:nvPr/>
        </p:nvSpPr>
        <p:spPr>
          <a:xfrm>
            <a:off x="389450" y="4483000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68204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0090" y="155645"/>
            <a:ext cx="10499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Контроль и мониторинг сроков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7617" y="1828800"/>
            <a:ext cx="9310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Отслеживание статуса: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на какой стадии находится задача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7617" y="2636192"/>
            <a:ext cx="11004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Проверка качества: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соответствие подготовленного ответа требованиям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7617" y="3555295"/>
            <a:ext cx="85956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Напоминания: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уведомления о приближении </a:t>
            </a:r>
            <a:r>
              <a:rPr lang="ru-RU" sz="2400" dirty="0" err="1">
                <a:solidFill>
                  <a:schemeClr val="bg1"/>
                </a:solidFill>
                <a:latin typeface="Century Schoolbook" panose="02040604050505020304" pitchFamily="18" charset="0"/>
              </a:rPr>
              <a:t>дедлайна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7617" y="4474398"/>
            <a:ext cx="9559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Взаимодействие: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связь между Исполнителем и Контролером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811" y="5520838"/>
            <a:ext cx="110370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Результат: уверенность в том, что задача будет выполнена в срок</a:t>
            </a:r>
            <a:r>
              <a:rPr lang="ru-RU" sz="2800" b="1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8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" name="Ромб 7"/>
          <p:cNvSpPr/>
          <p:nvPr/>
        </p:nvSpPr>
        <p:spPr>
          <a:xfrm>
            <a:off x="432479" y="1981825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Ромб 8"/>
          <p:cNvSpPr/>
          <p:nvPr/>
        </p:nvSpPr>
        <p:spPr>
          <a:xfrm>
            <a:off x="432479" y="2789217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0" name="Ромб 9"/>
          <p:cNvSpPr/>
          <p:nvPr/>
        </p:nvSpPr>
        <p:spPr>
          <a:xfrm>
            <a:off x="432478" y="3708320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11" name="Ромб 10"/>
          <p:cNvSpPr/>
          <p:nvPr/>
        </p:nvSpPr>
        <p:spPr>
          <a:xfrm>
            <a:off x="432477" y="4627423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93624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81306" y="22860"/>
            <a:ext cx="12510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Завершение цикла </a:t>
            </a:r>
            <a:r>
              <a:rPr lang="ru-RU" sz="5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и </a:t>
            </a:r>
            <a:r>
              <a:rPr lang="ru-RU" sz="5400" dirty="0">
                <a:solidFill>
                  <a:schemeClr val="bg1"/>
                </a:solidFill>
                <a:latin typeface="Century Schoolbook" panose="02040604050505020304" pitchFamily="18" charset="0"/>
              </a:rPr>
              <a:t>преимущества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2970" y="2999512"/>
            <a:ext cx="10809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Результат работы: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утверждение финальной версии документа и сбор всех материалов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02970" y="4004772"/>
            <a:ext cx="11088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Регистрация исходящего: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присвоение номера и отправка корреспонденту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2970" y="5052835"/>
            <a:ext cx="9329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Закрытие задачи:</a:t>
            </a:r>
            <a:r>
              <a:rPr lang="ru-RU" sz="2400" dirty="0">
                <a:solidFill>
                  <a:schemeClr val="bg1"/>
                </a:solidFill>
                <a:latin typeface="Century Schoolbook" panose="02040604050505020304" pitchFamily="18" charset="0"/>
              </a:rPr>
              <a:t> перевод поручения в статус «Завершено</a:t>
            </a:r>
            <a:r>
              <a:rPr lang="ru-RU" sz="2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».</a:t>
            </a:r>
            <a:endParaRPr lang="ru-RU" sz="2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5770" y="2213832"/>
            <a:ext cx="3802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Финальные этапы:</a:t>
            </a:r>
            <a:endParaRPr lang="ru-RU" sz="28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7" name="Ромб 6"/>
          <p:cNvSpPr/>
          <p:nvPr/>
        </p:nvSpPr>
        <p:spPr>
          <a:xfrm>
            <a:off x="584879" y="5155332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8" name="Ромб 7"/>
          <p:cNvSpPr/>
          <p:nvPr/>
        </p:nvSpPr>
        <p:spPr>
          <a:xfrm>
            <a:off x="584878" y="4126543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9" name="Ромб 8"/>
          <p:cNvSpPr/>
          <p:nvPr/>
        </p:nvSpPr>
        <p:spPr>
          <a:xfrm>
            <a:off x="584879" y="3126075"/>
            <a:ext cx="229095" cy="217170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349412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7173" y="2862695"/>
            <a:ext cx="75552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 smtClean="0">
                <a:solidFill>
                  <a:schemeClr val="bg1"/>
                </a:solidFill>
                <a:latin typeface="Century Schoolbook" panose="02040604050505020304" pitchFamily="18" charset="0"/>
              </a:rPr>
              <a:t>Спасибо за внимание!</a:t>
            </a:r>
            <a:endParaRPr lang="ru-RU" sz="5400" dirty="0">
              <a:solidFill>
                <a:schemeClr val="bg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8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142</Words>
  <Application>Microsoft Office PowerPoint</Application>
  <PresentationFormat>Широкоэкранный</PresentationFormat>
  <Paragraphs>43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Schoolbook</vt:lpstr>
      <vt:lpstr>Тема Office</vt:lpstr>
      <vt:lpstr>Организация электронного документооборота и совместной работы с документами.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электронного документооборота и совместной работы с документами.</dc:title>
  <dc:creator>Студент Студентович</dc:creator>
  <cp:lastModifiedBy>Студент Студентович</cp:lastModifiedBy>
  <cp:revision>10</cp:revision>
  <dcterms:created xsi:type="dcterms:W3CDTF">2026-09-14T07:49:35Z</dcterms:created>
  <dcterms:modified xsi:type="dcterms:W3CDTF">2026-09-14T09:17:35Z</dcterms:modified>
</cp:coreProperties>
</file>