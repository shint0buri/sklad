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4" r:id="rId2"/>
    <p:sldId id="287" r:id="rId3"/>
    <p:sldId id="325" r:id="rId4"/>
    <p:sldId id="334" r:id="rId5"/>
    <p:sldId id="331" r:id="rId6"/>
    <p:sldId id="339" r:id="rId7"/>
    <p:sldId id="326" r:id="rId8"/>
    <p:sldId id="327" r:id="rId9"/>
    <p:sldId id="340" r:id="rId10"/>
    <p:sldId id="328" r:id="rId11"/>
    <p:sldId id="329" r:id="rId12"/>
    <p:sldId id="338" r:id="rId13"/>
    <p:sldId id="333" r:id="rId14"/>
    <p:sldId id="341" r:id="rId15"/>
    <p:sldId id="330" r:id="rId16"/>
    <p:sldId id="33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0B5"/>
    <a:srgbClr val="996633"/>
    <a:srgbClr val="FCC133"/>
    <a:srgbClr val="643F07"/>
    <a:srgbClr val="EA0A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206" autoAdjust="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>
        <p:guide orient="horz" pos="2183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FD774F4-657D-4856-89DF-83903EE64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41A31D-9F94-4995-8B3E-63E7CAF62C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EA3B-4E9F-41E1-87FF-3E012EC78E3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EFB220-C4C2-44C9-A3AE-ADF0A0080C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57FBEB-CEF5-4245-8BF4-A0EE374688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1AE05-8AAA-4D06-AE4C-2482BAF7A3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774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72E1C-1F8D-49E2-B299-7468A682693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46E24-2A5B-4557-B645-3FBA5ABFE9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41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946E24-2A5B-4557-B645-3FBA5ABFE9A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54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139094B-1A23-4A79-A191-9BD31304F5B3}"/>
              </a:ext>
            </a:extLst>
          </p:cNvPr>
          <p:cNvCxnSpPr>
            <a:cxnSpLocks/>
          </p:cNvCxnSpPr>
          <p:nvPr/>
        </p:nvCxnSpPr>
        <p:spPr>
          <a:xfrm flipH="1">
            <a:off x="485236" y="4789854"/>
            <a:ext cx="543464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5445929-ABD4-496F-9FAC-EB5F4BFAB4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32" y="1699406"/>
            <a:ext cx="6484485" cy="2978131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Тема презентации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3ED82C-1866-4F85-B12A-293CDC743D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32" y="4949746"/>
            <a:ext cx="6694099" cy="27785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Иванов Иван Иванович,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E6C540-A4DF-4C58-8C62-60DBA6F450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A65BB67D-BC73-4298-8FA6-141DDD6A63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31" y="5286073"/>
            <a:ext cx="6694100" cy="43573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кандидат экономических наук, доцент (заведующий) кафедры(ой) …полное название кафедры… ставропольского ГАУ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AC02C29-D361-481F-9BEB-E7C6E88D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8DFFB2-E768-47E3-8F66-C918E16809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11" y="1639019"/>
            <a:ext cx="4439953" cy="438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3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5445929-ABD4-496F-9FAC-EB5F4BFAB4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947" y="2079683"/>
            <a:ext cx="10843403" cy="4485020"/>
          </a:xfrm>
          <a:prstGeom prst="rect">
            <a:avLst/>
          </a:prstGeom>
        </p:spPr>
        <p:txBody>
          <a:bodyPr anchor="t"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chemeClr val="tx1"/>
                </a:solidFill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Название пункта лекции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Название пункта лекции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CE5228-51A9-497E-8F4A-EA1AFC9E5B92}"/>
              </a:ext>
            </a:extLst>
          </p:cNvPr>
          <p:cNvSpPr txBox="1"/>
          <p:nvPr userDrawn="1"/>
        </p:nvSpPr>
        <p:spPr>
          <a:xfrm>
            <a:off x="439947" y="1382400"/>
            <a:ext cx="9318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План: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694BA1-43C9-4ACA-B71F-D08AD8D963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5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мер и название пункта лек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B011E3EF-370F-4031-88C5-DBFE1C0B5F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43" y="2035175"/>
            <a:ext cx="10679113" cy="2881313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Номер и название пункта лекции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905200-8F4C-4516-857C-832D508A71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9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957FC41-9EF1-4CD0-91E5-03D47102E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09BAF0-057C-4124-A774-CC2C611822DA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9CFC8145-040D-427F-B3DD-4AFCCCB2F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270EE-9107-45AE-BBDC-06FA8C1AE1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1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741C5C-559F-4E1E-89DE-CA01C7C01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FA96665E-597D-4FDE-A94E-730A135092B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71D85FB0-2DEE-4C63-85A1-E4A059B93B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B0FE8502-BCD2-4D6F-ADAA-0D1E129A7A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3296" y="1846142"/>
            <a:ext cx="4495800" cy="380206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706B4B-70F9-49C9-B9B3-7DA7A15B49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2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8B6D3F7-F1C0-4825-8D80-D3E297B3D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A9D1402-D96F-4AB6-BFD5-0FB3B48B6143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Текст 4">
            <a:extLst>
              <a:ext uri="{FF2B5EF4-FFF2-40B4-BE49-F238E27FC236}">
                <a16:creationId xmlns:a16="http://schemas.microsoft.com/office/drawing/2014/main" id="{867ABDDE-3924-4C65-BC61-1B44FEE173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1CB5CB05-D425-4F89-82E2-066E32CEE5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6754" y="1447863"/>
            <a:ext cx="6365853" cy="449999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14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EC2C6F-3B09-4140-A829-F8BC98866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7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376DB0-77FB-43A6-AFA5-54D8CFA4F3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386C5C-7FFD-48B5-A457-6E3F12C20191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C576BB4E-1EAB-45EA-8BEF-96EC34E01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B6C5194E-274B-4145-81F2-7AF6A201B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8868" y="4583998"/>
            <a:ext cx="6365853" cy="171180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sp>
        <p:nvSpPr>
          <p:cNvPr id="19" name="Рисунок 9">
            <a:extLst>
              <a:ext uri="{FF2B5EF4-FFF2-40B4-BE49-F238E27FC236}">
                <a16:creationId xmlns:a16="http://schemas.microsoft.com/office/drawing/2014/main" id="{5E67CF03-7963-4B22-A4F3-836C29E6F6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67374" y="1419299"/>
            <a:ext cx="3708840" cy="304504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A81A8C-6A73-47BB-B7FB-8157BDD0BC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4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376DB0-77FB-43A6-AFA5-54D8CFA4F3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386C5C-7FFD-48B5-A457-6E3F12C20191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C576BB4E-1EAB-45EA-8BEF-96EC34E01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B6C5194E-274B-4145-81F2-7AF6A201B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864" y="4544747"/>
            <a:ext cx="6365853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sp>
        <p:nvSpPr>
          <p:cNvPr id="19" name="Рисунок 9">
            <a:extLst>
              <a:ext uri="{FF2B5EF4-FFF2-40B4-BE49-F238E27FC236}">
                <a16:creationId xmlns:a16="http://schemas.microsoft.com/office/drawing/2014/main" id="{5E67CF03-7963-4B22-A4F3-836C29E6F6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91207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3D7E7A26-495B-499D-9ACD-C4EF9AE578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50978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002FD3-A3DA-4B3C-AADE-E186936CA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4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86F72A-F306-4A2E-8D64-DA1263B5B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>
            <a:extLst>
              <a:ext uri="{FF2B5EF4-FFF2-40B4-BE49-F238E27FC236}">
                <a16:creationId xmlns:a16="http://schemas.microsoft.com/office/drawing/2014/main" id="{1649D466-D924-41C5-B8FF-D3C94D78636A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E357D55-2774-413D-B945-98FE780588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F478664-3918-4EE9-821C-5963EC2434CD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>
            <a:extLst>
              <a:ext uri="{FF2B5EF4-FFF2-40B4-BE49-F238E27FC236}">
                <a16:creationId xmlns:a16="http://schemas.microsoft.com/office/drawing/2014/main" id="{060492E4-D3A0-4F3E-A4B4-9576444C48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4" name="Рисунок 9">
            <a:extLst>
              <a:ext uri="{FF2B5EF4-FFF2-40B4-BE49-F238E27FC236}">
                <a16:creationId xmlns:a16="http://schemas.microsoft.com/office/drawing/2014/main" id="{16709147-6787-4627-917D-BA78F8C1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7288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>
            <a:extLst>
              <a:ext uri="{FF2B5EF4-FFF2-40B4-BE49-F238E27FC236}">
                <a16:creationId xmlns:a16="http://schemas.microsoft.com/office/drawing/2014/main" id="{C0197583-1BF2-4762-B5AF-997232BF95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333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038AFBF-7C07-4F16-980C-A36853B057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6681" y="4586406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8C57B7-F856-40D4-8A79-F358EDDF9D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>
            <a:extLst>
              <a:ext uri="{FF2B5EF4-FFF2-40B4-BE49-F238E27FC236}">
                <a16:creationId xmlns:a16="http://schemas.microsoft.com/office/drawing/2014/main" id="{1649D466-D924-41C5-B8FF-D3C94D78636A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E357D55-2774-413D-B945-98FE780588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F478664-3918-4EE9-821C-5963EC2434CD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>
            <a:extLst>
              <a:ext uri="{FF2B5EF4-FFF2-40B4-BE49-F238E27FC236}">
                <a16:creationId xmlns:a16="http://schemas.microsoft.com/office/drawing/2014/main" id="{060492E4-D3A0-4F3E-A4B4-9576444C48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4" name="Рисунок 9">
            <a:extLst>
              <a:ext uri="{FF2B5EF4-FFF2-40B4-BE49-F238E27FC236}">
                <a16:creationId xmlns:a16="http://schemas.microsoft.com/office/drawing/2014/main" id="{16709147-6787-4627-917D-BA78F8C1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3114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>
            <a:extLst>
              <a:ext uri="{FF2B5EF4-FFF2-40B4-BE49-F238E27FC236}">
                <a16:creationId xmlns:a16="http://schemas.microsoft.com/office/drawing/2014/main" id="{C0197583-1BF2-4762-B5AF-997232BF95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4182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3696CB45-93E9-4066-8715-6BDE41269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83114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955E058-34D8-4EE2-BDB4-126A586E4C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84182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53CA5E-93A8-4861-8D4F-A2CC0FBD41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63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2BF226B-82E7-4D5B-AB88-CB68CC411E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1478" y="1753520"/>
            <a:ext cx="8123511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70597F-50ED-4DF8-B4D8-0A093B7A4E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64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9C046C4E-9193-4CAE-860C-F981D732DD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91741" y="1661470"/>
            <a:ext cx="6441376" cy="460130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FACBAEB-9D17-439E-9BBE-4F38BCC65C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55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91D950-F79C-4E71-A232-176C787033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6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23" name="Рисунок 9">
            <a:extLst>
              <a:ext uri="{FF2B5EF4-FFF2-40B4-BE49-F238E27FC236}">
                <a16:creationId xmlns:a16="http://schemas.microsoft.com/office/drawing/2014/main" id="{36CC45C9-24F1-40E1-80A2-873E9F9DF2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6426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7" name="Рисунок 9">
            <a:extLst>
              <a:ext uri="{FF2B5EF4-FFF2-40B4-BE49-F238E27FC236}">
                <a16:creationId xmlns:a16="http://schemas.microsoft.com/office/drawing/2014/main" id="{5F25DC22-2CF8-4F3D-A1DF-2D85FC4EEF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0652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C6EF832C-C77D-4097-980B-27F22D0E9E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969" y="4531611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AC9257-DC50-4D45-B9EF-7B0B718AF5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9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08029809-C4FD-4994-9E8C-E191852DB9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4595" y="1906444"/>
            <a:ext cx="3646417" cy="374205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DFF71793-0B89-4636-8ED2-AF0219A597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347" y="1619211"/>
            <a:ext cx="5363058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0263A2-33B6-4CB9-8F55-2889BF298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23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25481E-93B3-4F69-91AA-E879506F45CE}"/>
              </a:ext>
            </a:extLst>
          </p:cNvPr>
          <p:cNvSpPr txBox="1"/>
          <p:nvPr userDrawn="1"/>
        </p:nvSpPr>
        <p:spPr>
          <a:xfrm>
            <a:off x="1406800" y="3090469"/>
            <a:ext cx="9378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A18858-A63C-4DE9-90C8-B26917E77A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B22699-20E9-4C0C-8D56-79DDD65830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32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2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12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6" r:id="rId3"/>
    <p:sldLayoutId id="2147483674" r:id="rId4"/>
    <p:sldLayoutId id="2147483650" r:id="rId5"/>
    <p:sldLayoutId id="2147483670" r:id="rId6"/>
    <p:sldLayoutId id="2147483675" r:id="rId7"/>
    <p:sldLayoutId id="2147483678" r:id="rId8"/>
    <p:sldLayoutId id="2147483680" r:id="rId9"/>
    <p:sldLayoutId id="2147483666" r:id="rId10"/>
    <p:sldLayoutId id="2147483679" r:id="rId11"/>
    <p:sldLayoutId id="2147483661" r:id="rId12"/>
    <p:sldLayoutId id="2147483681" r:id="rId13"/>
    <p:sldLayoutId id="2147483683" r:id="rId14"/>
    <p:sldLayoutId id="2147483673" r:id="rId15"/>
    <p:sldLayoutId id="2147483682" r:id="rId16"/>
    <p:sldLayoutId id="2147483684" r:id="rId17"/>
    <p:sldLayoutId id="214748368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4C119DA-CF99-F436-2FDF-1F92B32557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331" y="1079647"/>
            <a:ext cx="7192937" cy="4206426"/>
          </a:xfrm>
        </p:spPr>
        <p:txBody>
          <a:bodyPr/>
          <a:lstStyle/>
          <a:p>
            <a:r>
              <a:rPr lang="ru-RU" dirty="0"/>
              <a:t>Социальный проект </a:t>
            </a:r>
            <a:r>
              <a:rPr lang="ru-RU" dirty="0" smtClean="0"/>
              <a:t>«</a:t>
            </a:r>
            <a:r>
              <a:rPr lang="ru-RU" i="1" u="sng" dirty="0" smtClean="0"/>
              <a:t>Добрый двор</a:t>
            </a:r>
            <a:r>
              <a:rPr lang="ru-RU" dirty="0" smtClean="0"/>
              <a:t>»</a:t>
            </a:r>
            <a:endParaRPr lang="ru-RU" sz="2800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3722" y="4890123"/>
            <a:ext cx="86718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Руководитель проекта</a:t>
            </a:r>
            <a:r>
              <a:rPr lang="ru-RU" b="1" i="1" dirty="0" smtClean="0"/>
              <a:t>: </a:t>
            </a:r>
            <a:r>
              <a:rPr lang="ru-RU" b="1" i="1" dirty="0" err="1" smtClean="0"/>
              <a:t>Лёвушкина</a:t>
            </a:r>
            <a:r>
              <a:rPr lang="ru-RU" b="1" i="1" dirty="0" smtClean="0"/>
              <a:t> Светлана Владимировна</a:t>
            </a:r>
            <a:endParaRPr lang="ru-RU" b="1" i="1" dirty="0"/>
          </a:p>
          <a:p>
            <a:endParaRPr lang="ru-RU" b="1" i="1" dirty="0"/>
          </a:p>
          <a:p>
            <a:r>
              <a:rPr lang="ru-RU" b="1" i="1" dirty="0"/>
              <a:t>Команда (разработчики) проекта</a:t>
            </a:r>
            <a:r>
              <a:rPr lang="ru-RU" b="1" i="1" dirty="0" smtClean="0"/>
              <a:t>: </a:t>
            </a:r>
            <a:r>
              <a:rPr lang="ru-RU" b="1" i="1" dirty="0" err="1" smtClean="0"/>
              <a:t>Оберемко</a:t>
            </a:r>
            <a:r>
              <a:rPr lang="ru-RU" b="1" i="1" dirty="0" smtClean="0"/>
              <a:t> Анна Алексеевна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61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Потенциальные заказчики проекта</a:t>
            </a: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686369" y="4860386"/>
            <a:ext cx="11376000" cy="199761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686967"/>
              </p:ext>
            </p:extLst>
          </p:nvPr>
        </p:nvGraphicFramePr>
        <p:xfrm>
          <a:off x="461588" y="1439593"/>
          <a:ext cx="11268823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4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Наименование заказчика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Отраслевая</a:t>
                      </a:r>
                      <a:r>
                        <a:rPr lang="ru-RU" sz="2000" baseline="0" dirty="0"/>
                        <a:t> </a:t>
                      </a:r>
                      <a:r>
                        <a:rPr lang="ru-RU" sz="2000" dirty="0"/>
                        <a:t>принадлежность (сфера деятельности)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Место</a:t>
                      </a:r>
                      <a:r>
                        <a:rPr lang="ru-RU" sz="2000" baseline="0" dirty="0"/>
                        <a:t> нахождения (территория действия)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Органы власти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Государственное</a:t>
                      </a:r>
                      <a:r>
                        <a:rPr lang="ru-RU" sz="2000" baseline="0" dirty="0" smtClean="0"/>
                        <a:t> управление/муниципальное развитие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г. Ставрополь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Некоммерческие организации </a:t>
                      </a:r>
                      <a:r>
                        <a:rPr lang="ru-RU" sz="2000" dirty="0" smtClean="0"/>
                        <a:t>и</a:t>
                      </a:r>
                      <a:r>
                        <a:rPr lang="ru-RU" sz="2000" baseline="0" dirty="0" smtClean="0"/>
                        <a:t> о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бщественные объединения (местные сообщества и инициативные группы жильцов)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Социальная</a:t>
                      </a:r>
                      <a:r>
                        <a:rPr lang="ru-RU" sz="2000" baseline="0" dirty="0" smtClean="0"/>
                        <a:t> сфера, гражданское общество, </a:t>
                      </a: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общественная деятельность, местное самоуправление</a:t>
                      </a:r>
                    </a:p>
                    <a:p>
                      <a:endParaRPr lang="ru-RU" sz="2000" dirty="0" smtClean="0"/>
                    </a:p>
                    <a:p>
                      <a:endParaRPr lang="ru-RU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г. Ставрополь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14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Разработчики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01030"/>
              </p:ext>
            </p:extLst>
          </p:nvPr>
        </p:nvGraphicFramePr>
        <p:xfrm>
          <a:off x="878449" y="1434905"/>
          <a:ext cx="10657059" cy="4560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04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err="1" smtClean="0"/>
                        <a:t>Оберемко</a:t>
                      </a:r>
                      <a:r>
                        <a:rPr lang="ru-RU" sz="2000" dirty="0" smtClean="0"/>
                        <a:t> А.А.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Общее руководство, представление проекта партнёрам и заказчикам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Разработка и реализация проекта, координация команды,</a:t>
                      </a:r>
                      <a:r>
                        <a:rPr lang="ru-RU" sz="1400" baseline="0" dirty="0" smtClean="0"/>
                        <a:t> ведение отчётов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Координатор по работе с сообществами</a:t>
                      </a:r>
                      <a:endParaRPr lang="ru-RU" sz="2400" dirty="0" smtClean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Вовлечение жителей и формирование локальных инициатив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Проведение встреч с жителями,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ТОСами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 инициативными группами, формирование групп активистов, передача команде проекта обратной связи от жителей для корректировки стратегии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Эксперт по городской среде и соц. проектированию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Проектирование и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модерация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обустройства дворовых пространств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текущего состояния дворовых пространств,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модерация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совместного проектирования дворов с участием жителей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PR-</a:t>
                      </a:r>
                      <a:r>
                        <a:rPr lang="ru-RU" sz="2000" dirty="0" smtClean="0"/>
                        <a:t>менеджер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Продвижение проекта и коммуникация с аудиторией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Разработка и запуск информационной кампании: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соцсети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листовки, видеоролики о проекте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88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408052" y="142758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Участники (партнеры)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21594"/>
              </p:ext>
            </p:extLst>
          </p:nvPr>
        </p:nvGraphicFramePr>
        <p:xfrm>
          <a:off x="182878" y="1039091"/>
          <a:ext cx="11826347" cy="5070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09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9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Администрация города Ставрополя</a:t>
                      </a:r>
                      <a:endParaRPr lang="ru-RU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Стратегический партнёр проекта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Обеспечение нормативно-правовой и административной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поддержки,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ыделение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финансирования на мероприятия и благоустройство,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оординация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взаимодействия с управляющими компаниями и ТСЖ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Управляющие компании (УК) и ТСЖ</a:t>
                      </a:r>
                      <a:endParaRPr lang="ru-RU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Операторы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уровне жилого дома и двора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Информационная поддержка и коммуникация с жителями,</a:t>
                      </a:r>
                    </a:p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содействие в реализации инициатив жителей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527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НКО и волонтёрские</a:t>
                      </a:r>
                      <a:r>
                        <a:rPr lang="ru-RU" sz="2000" baseline="0" dirty="0" smtClean="0"/>
                        <a:t> центры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Социальный катализатор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Поддержка социальной интеграции, проведение мероприятий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76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Актуальность и социальная значимость проекта</a:t>
            </a: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365158" y="2247369"/>
            <a:ext cx="11376000" cy="30683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Решаемая проблема: </a:t>
            </a:r>
            <a:r>
              <a:rPr lang="ru-RU" dirty="0" smtClean="0"/>
              <a:t>социальная изоляция и отсутствие коммуникации между соседями.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Проект связан с социальной политикой Ставропольского края и направлен на улучшение качества жизни людей, проживающих в многоквартирных домах, а так же помогает  в достижении нац. цели «комфортная и безопасная среда для жизни»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4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Адресная направленность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863" y="1782156"/>
            <a:ext cx="11046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Постоянные жители конкретного двора или жилого квартала, независимо от возраста и социального статуса</a:t>
            </a:r>
            <a:r>
              <a:rPr lang="ru-RU" sz="2000" dirty="0" smtClean="0"/>
              <a:t>;</a:t>
            </a:r>
          </a:p>
          <a:p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81863" y="3362651"/>
            <a:ext cx="10639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Инициативные группы жильцов, готовые стать локальными координаторами изменений</a:t>
            </a:r>
            <a:r>
              <a:rPr lang="ru-RU" sz="2000" dirty="0" smtClean="0"/>
              <a:t>;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65158" y="5086928"/>
            <a:ext cx="11433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Местные сообщества, заинтересованные в укреплении доверия, взаимопомощи и совместной ответственности за благополучие своего двора.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3179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Гипотеза проекта:</a:t>
            </a: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365158" y="3656057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Цель проекта:</a:t>
            </a:r>
          </a:p>
        </p:txBody>
      </p:sp>
      <p:sp>
        <p:nvSpPr>
          <p:cNvPr id="2" name="Багетная рамка 1"/>
          <p:cNvSpPr/>
          <p:nvPr/>
        </p:nvSpPr>
        <p:spPr>
          <a:xfrm>
            <a:off x="1434905" y="1280160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 жилых дворах Ставрополя отсутствуют условия для регулярного неформального общения и совместной деятельности соседей, что приводит к социальной изоляции, низкому уровню доверия и неспособности сообществ самостоятельно развивать и поддерживать своё общее пространство.</a:t>
            </a:r>
          </a:p>
        </p:txBody>
      </p:sp>
      <p:sp>
        <p:nvSpPr>
          <p:cNvPr id="5" name="Багетная рамка 4"/>
          <p:cNvSpPr/>
          <p:nvPr/>
        </p:nvSpPr>
        <p:spPr>
          <a:xfrm>
            <a:off x="1434905" y="4395727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 2027 году организовать кампанию по преобразованию </a:t>
            </a:r>
            <a:r>
              <a:rPr lang="ru-RU" dirty="0"/>
              <a:t>жилых </a:t>
            </a:r>
            <a:r>
              <a:rPr lang="ru-RU" dirty="0" smtClean="0"/>
              <a:t>дворов города Ставрополя </a:t>
            </a:r>
            <a:r>
              <a:rPr lang="ru-RU" dirty="0"/>
              <a:t>в дружелюбные, вовлечённые и поддерживающие социальные </a:t>
            </a:r>
            <a:r>
              <a:rPr lang="ru-RU" dirty="0" smtClean="0"/>
              <a:t>пространства.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79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Задачи проекта:</a:t>
            </a:r>
          </a:p>
        </p:txBody>
      </p:sp>
      <p:sp>
        <p:nvSpPr>
          <p:cNvPr id="4" name="Багетная рамка 3"/>
          <p:cNvSpPr/>
          <p:nvPr/>
        </p:nvSpPr>
        <p:spPr>
          <a:xfrm>
            <a:off x="365158" y="1153551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Снизить уровень социальной изоляции</a:t>
            </a:r>
          </a:p>
        </p:txBody>
      </p:sp>
      <p:sp>
        <p:nvSpPr>
          <p:cNvPr id="5" name="Багетная рамка 4"/>
          <p:cNvSpPr/>
          <p:nvPr/>
        </p:nvSpPr>
        <p:spPr>
          <a:xfrm>
            <a:off x="365158" y="1888002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Сформировать культуру добрососедства</a:t>
            </a:r>
          </a:p>
        </p:txBody>
      </p:sp>
      <p:sp>
        <p:nvSpPr>
          <p:cNvPr id="6" name="Багетная рамка 5"/>
          <p:cNvSpPr/>
          <p:nvPr/>
        </p:nvSpPr>
        <p:spPr>
          <a:xfrm>
            <a:off x="365158" y="262245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Вовлечь </a:t>
            </a:r>
            <a:r>
              <a:rPr lang="ru-RU" dirty="0"/>
              <a:t>жителей в совместные инициативы</a:t>
            </a:r>
          </a:p>
        </p:txBody>
      </p:sp>
      <p:sp>
        <p:nvSpPr>
          <p:cNvPr id="7" name="Багетная рамка 6"/>
          <p:cNvSpPr/>
          <p:nvPr/>
        </p:nvSpPr>
        <p:spPr>
          <a:xfrm>
            <a:off x="365158" y="3388381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Создать устойчивые «дворовые сообщества»</a:t>
            </a:r>
          </a:p>
        </p:txBody>
      </p:sp>
      <p:sp>
        <p:nvSpPr>
          <p:cNvPr id="8" name="Багетная рамка 7"/>
          <p:cNvSpPr/>
          <p:nvPr/>
        </p:nvSpPr>
        <p:spPr>
          <a:xfrm>
            <a:off x="424625" y="4129257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Развивать навыки гражданской активности</a:t>
            </a:r>
          </a:p>
        </p:txBody>
      </p:sp>
      <p:sp>
        <p:nvSpPr>
          <p:cNvPr id="9" name="Багетная рамка 8"/>
          <p:cNvSpPr/>
          <p:nvPr/>
        </p:nvSpPr>
        <p:spPr>
          <a:xfrm>
            <a:off x="424625" y="487013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Организовать регулярные неформальные встречи жителей</a:t>
            </a:r>
          </a:p>
        </p:txBody>
      </p:sp>
      <p:sp>
        <p:nvSpPr>
          <p:cNvPr id="10" name="Багетная рамка 9"/>
          <p:cNvSpPr/>
          <p:nvPr/>
        </p:nvSpPr>
        <p:spPr>
          <a:xfrm>
            <a:off x="424625" y="5611009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Обеспечить доступность дворового пространства для всех возрастных групп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965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 err="1"/>
              <a:t>Прототипирование</a:t>
            </a:r>
            <a:r>
              <a:rPr lang="ru-RU" dirty="0"/>
              <a:t> (описание социального проекта)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65157" y="1203355"/>
            <a:ext cx="11564245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ематериальные </a:t>
            </a:r>
            <a:r>
              <a:rPr lang="ru-RU" b="1" dirty="0"/>
              <a:t>свойства и </a:t>
            </a:r>
            <a:r>
              <a:rPr lang="ru-RU" b="1" dirty="0" smtClean="0"/>
              <a:t>отношения: </a:t>
            </a:r>
            <a:r>
              <a:rPr lang="ru-RU" dirty="0" smtClean="0"/>
              <a:t>п</a:t>
            </a:r>
            <a:r>
              <a:rPr lang="ru-RU" i="1" dirty="0" smtClean="0"/>
              <a:t>роекты</a:t>
            </a:r>
            <a:r>
              <a:rPr lang="ru-RU" i="1" dirty="0"/>
              <a:t>, направленные на изменение отношения жителей к своему двору и соседям — формирование культуры добрососедства, доверия, взаимопомощи; создание «дворовых сообществ»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Процессы:</a:t>
            </a:r>
            <a:r>
              <a:rPr lang="ru-RU" i="1" dirty="0" smtClean="0"/>
              <a:t> </a:t>
            </a:r>
            <a:r>
              <a:rPr lang="ru-RU" i="1" dirty="0"/>
              <a:t>разработка методик вовлечения жителей в совместную деятельность, проектирование систем локальной коммуникации — чаты, доски объявлений, «дворовые советы», организация регулярных встреч и </a:t>
            </a:r>
            <a:r>
              <a:rPr lang="ru-RU" i="1" dirty="0" smtClean="0"/>
              <a:t>обсуждений</a:t>
            </a:r>
            <a:endParaRPr lang="ru-RU" i="1" dirty="0"/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Услуги:</a:t>
            </a:r>
            <a:r>
              <a:rPr lang="ru-RU" i="1" dirty="0" smtClean="0"/>
              <a:t> создание услуги </a:t>
            </a:r>
            <a:r>
              <a:rPr lang="ru-RU" i="1" dirty="0"/>
              <a:t>— «координатор дружелюбного двора»: человек, который помогает организовывать встречи, выявляет инициативных жителей, собирает идеи по благоустройству двора, содействует в решении бытовых </a:t>
            </a:r>
            <a:r>
              <a:rPr lang="ru-RU" i="1" dirty="0" smtClean="0"/>
              <a:t>вопросов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Организации и структурные подразделения:</a:t>
            </a:r>
            <a:r>
              <a:rPr lang="ru-RU" i="1" dirty="0" smtClean="0"/>
              <a:t> </a:t>
            </a:r>
            <a:r>
              <a:rPr lang="ru-RU" i="1" dirty="0"/>
              <a:t>проектируются «дворовые клубы» как неформальные объединения жителей, создаются системы поддержки </a:t>
            </a:r>
            <a:r>
              <a:rPr lang="ru-RU" i="1" dirty="0" smtClean="0"/>
              <a:t>инициатив, формируются </a:t>
            </a:r>
            <a:r>
              <a:rPr lang="ru-RU" i="1" dirty="0"/>
              <a:t>партнёрские экосистемы с ТСЖ, УК, местными НКО и школами</a:t>
            </a:r>
            <a:r>
              <a:rPr lang="ru-RU" sz="20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Мероприятия (акции): </a:t>
            </a:r>
            <a:r>
              <a:rPr lang="ru-RU" i="1" dirty="0" smtClean="0"/>
              <a:t>«День </a:t>
            </a:r>
            <a:r>
              <a:rPr lang="ru-RU" i="1" dirty="0"/>
              <a:t>добрых соседей», «Фестиваль двора</a:t>
            </a:r>
            <a:r>
              <a:rPr lang="ru-RU" i="1" dirty="0" smtClean="0"/>
              <a:t>», </a:t>
            </a:r>
            <a:r>
              <a:rPr lang="ru-RU" i="1" dirty="0"/>
              <a:t>«Мастер-классы по озеленению», </a:t>
            </a:r>
            <a:r>
              <a:rPr lang="ru-RU" i="1" dirty="0" smtClean="0"/>
              <a:t>направлены </a:t>
            </a:r>
            <a:r>
              <a:rPr lang="ru-RU" i="1" dirty="0"/>
              <a:t>на устранение барьеров и создание позитивных эмоциональных связей)</a:t>
            </a:r>
            <a:r>
              <a:rPr lang="ru-RU" sz="2000" dirty="0"/>
              <a:t>.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31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267448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Сроки и результаты реализации проекта: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52789"/>
              </p:ext>
            </p:extLst>
          </p:nvPr>
        </p:nvGraphicFramePr>
        <p:xfrm>
          <a:off x="718589" y="816723"/>
          <a:ext cx="10333501" cy="543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96">
                  <a:extLst>
                    <a:ext uri="{9D8B030D-6E8A-4147-A177-3AD203B41FA5}">
                      <a16:colId xmlns:a16="http://schemas.microsoft.com/office/drawing/2014/main" val="2416275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Этапы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Подготовка и вовлечение сообществ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10.01.2026 –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Сформированы инициативные группы в 3 пилотных дворах; проведены первые встречи с жителями; определены лидеры сообществ.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Запуск коммуникационной кампании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 – 01.05.2026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Созданы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соц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сети проекта, выпущены листовки и видеоролики; охват аудитории —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5000 человек; запущен канал обратной связи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Проектирование и обустройство дворов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01.05.2026 – 01.09.2026 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Разработаны и согласованы с жителями концепции благоустройства 3 дворов; запущены 1–2 совместных проекта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Устойчивость и масштабирование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01.09.2026 – 01.01.2027 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каждом пилотном дворе сформировано устойчивое «ядро» активистов; разработаны методические материалы для тиражирования проекта; подписаны соглашения с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ТОСами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на 202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год.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Текст 2"/>
          <p:cNvSpPr txBox="1">
            <a:spLocks/>
          </p:cNvSpPr>
          <p:nvPr/>
        </p:nvSpPr>
        <p:spPr>
          <a:xfrm>
            <a:off x="365158" y="619643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Место (география) реализации проекта</a:t>
            </a:r>
            <a:r>
              <a:rPr lang="ru-RU" dirty="0" smtClean="0"/>
              <a:t>: г. Ставрополь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82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7" y="530735"/>
            <a:ext cx="11376000" cy="493807"/>
          </a:xfrm>
        </p:spPr>
        <p:txBody>
          <a:bodyPr/>
          <a:lstStyle/>
          <a:p>
            <a:pPr algn="ctr"/>
            <a:r>
              <a:rPr lang="ru-RU" dirty="0"/>
              <a:t>Перечень приоритетных мероприятий</a:t>
            </a:r>
          </a:p>
          <a:p>
            <a:pPr algn="ctr"/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36701"/>
              </p:ext>
            </p:extLst>
          </p:nvPr>
        </p:nvGraphicFramePr>
        <p:xfrm>
          <a:off x="886405" y="1436479"/>
          <a:ext cx="10333503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Мероприятия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Проведение «Дворовых встреч» в 3 пилотных дворах (формат неформальных чаепитий с обсуждением проблем и идей)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Организация «Дня открытых дверей» с регистрацией активистов и формированием групп по интересам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Составление карты ресурсов и лидеров в каждом дворе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10.01.2026 –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2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Этап 2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</a:t>
                      </a: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-канала и страницы проекта </a:t>
                      </a: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Вконтакте</a:t>
                      </a:r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Размещение листовок и плакатов в подъездах и на остановках; запуск онлайн-опроса «Что вам нужно во дворе?»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01.05.2026 – 01.09.2026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9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Воркшоп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жителями и дизайнерами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Согласование концепций благоустройства с УК и администрацией района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 – 01.05.2026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Обучающий семинар для активистов: «Как организовать инициативу и договориться с УК»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Фестиваль «Добрые соседи» —</a:t>
                      </a:r>
                      <a:r>
                        <a:rPr lang="ru-RU" sz="1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обмен опытом и общение между дворами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01.09.2026 – 01.01.2027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10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92757" y="0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Ресурсное обеспечение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468909"/>
              </p:ext>
            </p:extLst>
          </p:nvPr>
        </p:nvGraphicFramePr>
        <p:xfrm>
          <a:off x="216127" y="549275"/>
          <a:ext cx="11729259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7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05">
                <a:tc>
                  <a:txBody>
                    <a:bodyPr/>
                    <a:lstStyle/>
                    <a:p>
                      <a:r>
                        <a:rPr lang="ru-RU" dirty="0"/>
                        <a:t>Этап/мероприятие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Фин.</a:t>
                      </a:r>
                    </a:p>
                    <a:p>
                      <a:r>
                        <a:rPr lang="ru-RU" dirty="0" smtClean="0"/>
                        <a:t>ресурсы, </a:t>
                      </a:r>
                      <a:r>
                        <a:rPr lang="ru-RU" dirty="0"/>
                        <a:t>тыс.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Источник финансирования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/>
                        <a:t>1 </a:t>
                      </a:r>
                      <a:r>
                        <a:rPr lang="ru-RU" sz="1400" b="1" dirty="0" smtClean="0"/>
                        <a:t>Этап </a:t>
                      </a:r>
                      <a:r>
                        <a:rPr lang="ru-RU" sz="1400" dirty="0" smtClean="0"/>
                        <a:t>- Подготовка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356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1.1</a:t>
                      </a:r>
                      <a:r>
                        <a:rPr lang="ru-RU" sz="1400" baseline="0" dirty="0" smtClean="0"/>
                        <a:t> «День открытых дверей» (листовки, подарки для участников, аренда зонта/шатра)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Бюджет города / Спонсорство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1.2</a:t>
                      </a:r>
                      <a:r>
                        <a:rPr lang="ru-RU" sz="1400" baseline="0" dirty="0" smtClean="0"/>
                        <a:t> Составление карты ресурсов и лидеров (анкетирование, интервью, обработка данных, презентация результатов)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Грант НКО / Волонтёрский труд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2</a:t>
                      </a:r>
                      <a:r>
                        <a:rPr lang="ru-RU" sz="1400" b="1" baseline="0" dirty="0" smtClean="0"/>
                        <a:t> Этап </a:t>
                      </a:r>
                      <a:r>
                        <a:rPr lang="ru-RU" sz="1400" baseline="0" dirty="0" smtClean="0"/>
                        <a:t>– Коммуникации и реклама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aseline="0" dirty="0" smtClean="0"/>
                        <a:t>2.1 Реклама </a:t>
                      </a:r>
                      <a:r>
                        <a:rPr lang="ru-RU" sz="1400" baseline="0" dirty="0" err="1" smtClean="0"/>
                        <a:t>Telegram</a:t>
                      </a:r>
                      <a:r>
                        <a:rPr lang="ru-RU" sz="1400" baseline="0" dirty="0" smtClean="0"/>
                        <a:t>-канала и страницы </a:t>
                      </a:r>
                      <a:r>
                        <a:rPr lang="ru-RU" sz="1400" baseline="0" dirty="0" err="1" smtClean="0"/>
                        <a:t>Вконтакте</a:t>
                      </a:r>
                      <a:endParaRPr lang="ru-RU" sz="14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89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aseline="0" dirty="0" smtClean="0"/>
                        <a:t>2.2 Размещение листовок и плакатов + онлайн-опрос (печать, раздача, анализ данных)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Бюджет города / Волонтёрский труд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3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baseline="0" dirty="0" smtClean="0"/>
                        <a:t>3 Этап </a:t>
                      </a:r>
                      <a:r>
                        <a:rPr lang="ru-RU" sz="1400" baseline="0" dirty="0" smtClean="0"/>
                        <a:t>- Благоустройство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90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 smtClean="0"/>
                        <a:t>3.1 </a:t>
                      </a:r>
                      <a:r>
                        <a:rPr lang="ru-RU" sz="1400" baseline="0" dirty="0" err="1" smtClean="0"/>
                        <a:t>Воркшоп</a:t>
                      </a:r>
                      <a:r>
                        <a:rPr lang="ru-RU" sz="1400" baseline="0" dirty="0" smtClean="0"/>
                        <a:t> (материалы, аренда помещения)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6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3.2 Закупка и установка элементов благоустройства (скамейки, цветочные ящики, указатели)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Спонсорство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05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3.3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dirty="0" smtClean="0"/>
                        <a:t>Согласование концепций с УК и администрацией (распечатки, презентации, встречи)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Волонтёрский труд / Грант НКО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02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4 Этап </a:t>
                      </a:r>
                      <a:r>
                        <a:rPr lang="ru-RU" sz="1400" dirty="0" smtClean="0"/>
                        <a:t>– Масштабирование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793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4.1 Разработка и распространение методического пакета + соглашения с </a:t>
                      </a:r>
                      <a:r>
                        <a:rPr lang="ru-RU" sz="1400" dirty="0" err="1" smtClean="0"/>
                        <a:t>ТОСами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 / Общественная палата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20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6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228601"/>
            <a:ext cx="11376000" cy="729440"/>
          </a:xfrm>
        </p:spPr>
        <p:txBody>
          <a:bodyPr/>
          <a:lstStyle/>
          <a:p>
            <a:pPr algn="ctr"/>
            <a:r>
              <a:rPr lang="ru-RU" dirty="0"/>
              <a:t>Нормативные и этические ограничения реализации социального проекта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180" y="1423325"/>
            <a:ext cx="113109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Нормативные ограничения: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 smtClean="0"/>
              <a:t>Любые </a:t>
            </a:r>
            <a:r>
              <a:rPr lang="ru-RU" dirty="0"/>
              <a:t>изменения </a:t>
            </a:r>
            <a:r>
              <a:rPr lang="ru-RU" dirty="0" smtClean="0"/>
              <a:t>благоустройства требуют </a:t>
            </a:r>
            <a:r>
              <a:rPr lang="ru-RU" dirty="0"/>
              <a:t>письменного </a:t>
            </a:r>
            <a:r>
              <a:rPr lang="ru-RU" dirty="0" smtClean="0"/>
              <a:t>согласия </a:t>
            </a:r>
            <a:r>
              <a:rPr lang="ru-RU" dirty="0"/>
              <a:t>УК или ТСЖ</a:t>
            </a:r>
            <a:r>
              <a:rPr lang="ru-RU" dirty="0" smtClean="0"/>
              <a:t> </a:t>
            </a:r>
            <a:r>
              <a:rPr lang="ru-RU" dirty="0"/>
              <a:t>во избежание демонтажа или </a:t>
            </a:r>
            <a:r>
              <a:rPr lang="ru-RU" dirty="0" smtClean="0"/>
              <a:t>штрафов.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При </a:t>
            </a:r>
            <a:r>
              <a:rPr lang="ru-RU" dirty="0"/>
              <a:t>фото- и </a:t>
            </a:r>
            <a:r>
              <a:rPr lang="ru-RU" dirty="0" err="1"/>
              <a:t>видеофиксации</a:t>
            </a:r>
            <a:r>
              <a:rPr lang="ru-RU" dirty="0"/>
              <a:t>, сборе анкет, публикации историй жителей необходимо получать добровольное согласие на обработку персональных </a:t>
            </a:r>
            <a:r>
              <a:rPr lang="ru-RU" dirty="0" smtClean="0"/>
              <a:t>данных.</a:t>
            </a:r>
          </a:p>
          <a:p>
            <a:pPr marL="342900" indent="-342900">
              <a:buAutoNum type="arabicPeriod"/>
            </a:pPr>
            <a:r>
              <a:rPr lang="ru-RU" dirty="0" smtClean="0"/>
              <a:t>Дворовые мероприятия </a:t>
            </a:r>
            <a:r>
              <a:rPr lang="ru-RU" dirty="0"/>
              <a:t>с участием более 50 человек могут требовать уведомления в полицию и МЧС, а также соблюдения порядка проведения публичных мероприятий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 smtClean="0"/>
              <a:t>Этические ограничения: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Проект </a:t>
            </a:r>
            <a:r>
              <a:rPr lang="ru-RU" dirty="0"/>
              <a:t>должен быть добровольным: нельзя заставлять или оказывать давление на </a:t>
            </a:r>
            <a:r>
              <a:rPr lang="ru-RU" dirty="0" smtClean="0"/>
              <a:t>жителей.</a:t>
            </a:r>
          </a:p>
          <a:p>
            <a:pPr marL="342900" indent="-342900">
              <a:buAutoNum type="arabicPeriod"/>
            </a:pPr>
            <a:r>
              <a:rPr lang="ru-RU" dirty="0"/>
              <a:t>Мероприятия и пространства должны быть доступны для всех: пожилых, детей, людей с ОВЗ, представителей разных этнических и социальных групп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/>
              <a:t>Проект не должен использоваться для скрытой рекламы, политической агитации или продвижения коммерческих </a:t>
            </a:r>
            <a:r>
              <a:rPr lang="ru-RU" dirty="0" smtClean="0"/>
              <a:t>интересов.</a:t>
            </a:r>
          </a:p>
          <a:p>
            <a:pPr marL="342900" indent="-342900">
              <a:buAutoNum type="arabicPeriod"/>
            </a:pPr>
            <a:r>
              <a:rPr lang="ru-RU" dirty="0" smtClean="0"/>
              <a:t>Нельзя </a:t>
            </a:r>
            <a:r>
              <a:rPr lang="ru-RU" dirty="0"/>
              <a:t>нарушать режим дня жителей (например, проводить шумные мероприятия поздно вечером)</a:t>
            </a:r>
          </a:p>
        </p:txBody>
      </p:sp>
    </p:spTree>
    <p:extLst>
      <p:ext uri="{BB962C8B-B14F-4D97-AF65-F5344CB8AC3E}">
        <p14:creationId xmlns:p14="http://schemas.microsoft.com/office/powerpoint/2010/main" val="1976150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Механизмы реализации проекта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9628" y="1140285"/>
            <a:ext cx="119453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Организация мероприятий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проведение </a:t>
            </a:r>
            <a:r>
              <a:rPr lang="ru-RU" sz="1600" dirty="0"/>
              <a:t>регулярных </a:t>
            </a:r>
            <a:r>
              <a:rPr lang="ru-RU" sz="1600" dirty="0" smtClean="0"/>
              <a:t>дискуссий и мероприятий для </a:t>
            </a:r>
            <a:r>
              <a:rPr lang="ru-RU" sz="1600" dirty="0"/>
              <a:t>выявления потребностей и идей жителей.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организация </a:t>
            </a:r>
            <a:r>
              <a:rPr lang="ru-RU" sz="1600" dirty="0"/>
              <a:t>совместных субботников, </a:t>
            </a:r>
            <a:r>
              <a:rPr lang="ru-RU" sz="1600" dirty="0" smtClean="0"/>
              <a:t>фестивалей и </a:t>
            </a:r>
            <a:r>
              <a:rPr lang="ru-RU" sz="1600" dirty="0"/>
              <a:t>культурных событий для укрепления соседских связей.</a:t>
            </a:r>
          </a:p>
          <a:p>
            <a:endParaRPr lang="ru-RU" sz="1600" b="1" dirty="0" smtClean="0"/>
          </a:p>
          <a:p>
            <a:r>
              <a:rPr lang="ru-RU" sz="1600" b="1" dirty="0" smtClean="0"/>
              <a:t>Партнёрские связи</a:t>
            </a:r>
            <a:endParaRPr lang="ru-RU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</a:t>
            </a:r>
            <a:r>
              <a:rPr lang="ru-RU" sz="1600" dirty="0" smtClean="0"/>
              <a:t>отрудничество </a:t>
            </a:r>
            <a:r>
              <a:rPr lang="ru-RU" sz="1600" dirty="0"/>
              <a:t>с органами местного самоуправления (администрациями районов, ТСЖ, УК), общественными советами и активистами.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</a:t>
            </a:r>
            <a:r>
              <a:rPr lang="ru-RU" sz="1600" dirty="0" smtClean="0"/>
              <a:t>ривлечение </a:t>
            </a:r>
            <a:r>
              <a:rPr lang="ru-RU" sz="1600" dirty="0"/>
              <a:t>благотворительных фондов, корпоративных спонсоров и местного бизнеса для финансирования и материальной поддержки.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</a:t>
            </a:r>
            <a:r>
              <a:rPr lang="ru-RU" sz="1600" dirty="0" smtClean="0"/>
              <a:t>овлечение </a:t>
            </a:r>
            <a:r>
              <a:rPr lang="ru-RU" sz="1600" dirty="0"/>
              <a:t>волонтёрских организаций </a:t>
            </a:r>
            <a:r>
              <a:rPr lang="ru-RU" sz="1600" dirty="0" smtClean="0"/>
              <a:t>для </a:t>
            </a:r>
            <a:r>
              <a:rPr lang="ru-RU" sz="1600" dirty="0"/>
              <a:t>организации мероприятий и работы на местах</a:t>
            </a:r>
            <a:r>
              <a:rPr lang="ru-RU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r>
              <a:rPr lang="ru-RU" sz="1600" b="1" dirty="0"/>
              <a:t>Финансовое обеспечение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грантовое финансирование от региональных и федеральных программ по развитию городской среды и социальной инфраструктуры</a:t>
            </a:r>
            <a:r>
              <a:rPr lang="ru-RU" sz="1600" dirty="0" smtClean="0"/>
              <a:t>.</a:t>
            </a:r>
            <a:endParaRPr lang="ru-RU" sz="1600" dirty="0"/>
          </a:p>
          <a:p>
            <a:endParaRPr lang="ru-RU" sz="1600" dirty="0"/>
          </a:p>
          <a:p>
            <a:r>
              <a:rPr lang="ru-RU" sz="1600" b="1" dirty="0"/>
              <a:t>Управление проектом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</a:t>
            </a:r>
            <a:r>
              <a:rPr lang="ru-RU" sz="1600" dirty="0" smtClean="0"/>
              <a:t>тапный </a:t>
            </a:r>
            <a:r>
              <a:rPr lang="ru-RU" sz="1600" dirty="0"/>
              <a:t>контроль достижения результатов: ежеквартальные отчеты по количеству охваченных дворов, проведённых мероприятий и уровню удовлетворённости жителей.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</a:t>
            </a:r>
            <a:r>
              <a:rPr lang="ru-RU" sz="1600" dirty="0" smtClean="0"/>
              <a:t>ониторинг </a:t>
            </a:r>
            <a:r>
              <a:rPr lang="ru-RU" sz="1600" dirty="0"/>
              <a:t>качества и доступности созданных социальных пространств (безбарьерность, безопасность, эстетика, функциональность).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</a:t>
            </a:r>
            <a:r>
              <a:rPr lang="ru-RU" sz="1600" dirty="0" smtClean="0"/>
              <a:t>егулярный </a:t>
            </a:r>
            <a:r>
              <a:rPr lang="ru-RU" sz="1600" dirty="0"/>
              <a:t>сбор обратной связи от жителей через </a:t>
            </a:r>
            <a:r>
              <a:rPr lang="ru-RU" sz="1600" dirty="0" smtClean="0"/>
              <a:t>опросы и </a:t>
            </a:r>
            <a:r>
              <a:rPr lang="ru-RU" sz="1600" dirty="0"/>
              <a:t>личные встречи с инициативными группами</a:t>
            </a:r>
            <a:r>
              <a:rPr lang="ru-RU" sz="1600" dirty="0" smtClean="0"/>
              <a:t>.</a:t>
            </a: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07765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309012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Прогнозируемые результаты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301067"/>
              </p:ext>
            </p:extLst>
          </p:nvPr>
        </p:nvGraphicFramePr>
        <p:xfrm>
          <a:off x="365158" y="1149232"/>
          <a:ext cx="11376000" cy="5598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5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91">
                <a:tc>
                  <a:txBody>
                    <a:bodyPr/>
                    <a:lstStyle/>
                    <a:p>
                      <a:r>
                        <a:rPr lang="ru-RU" sz="1600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Результат (краткое описание)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Критерии достижения результата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Созданы 50 дружелюбных и вовлекающих социальных пространств в жилых дворах Ставрополя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каждом из 50 дворов реализованы физические изменения (новые скамейки, зоны отдыха, детские площадки, цветники и т.д.),</a:t>
                      </a:r>
                      <a:r>
                        <a:rPr lang="ru-RU" sz="16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у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становлены информационные стенды или QR-коды для взаимодействия,</a:t>
                      </a:r>
                      <a:r>
                        <a:rPr lang="ru-RU" sz="16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роведено не менее 2 мероприятий на двор в год.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Сформированы устойчивые инициативные группы жителей в каждом преобразованном дворе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каждом дворе зарегистрирована инициативная группа (минимум 3 человека), проводящая регулярные встречи (не реже 1 раза в квартал)</a:t>
                      </a:r>
                      <a:r>
                        <a:rPr lang="ru-RU" sz="16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активно участвующая в планировании и организации мероприятий.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Повышен уровень социальной </a:t>
                      </a:r>
                      <a:r>
                        <a:rPr lang="ru-RU" sz="1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вовлечённости</a:t>
                      </a:r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доверия между соседями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результатам опросов ≥85% жителей отмечают улучшение отношений с соседями. Рост числа участников мероприятий, снижение количества жалоб на конфликты в дворе.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4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Запущена система цифрового взаимодействия и обратной связи через </a:t>
                      </a:r>
                      <a:r>
                        <a:rPr lang="ru-RU" sz="1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соцсети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Созданы и активно поддерживаются официальные страницы/каналы проекта в VK и 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ежемесячная активность: ≥50% жителей целевых дворов подписались и хотя бы раз взаимодействовали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14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257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1">
      <a:dk1>
        <a:srgbClr val="001B71"/>
      </a:dk1>
      <a:lt1>
        <a:srgbClr val="FFFFFF"/>
      </a:lt1>
      <a:dk2>
        <a:srgbClr val="373743"/>
      </a:dk2>
      <a:lt2>
        <a:srgbClr val="F4F4F6"/>
      </a:lt2>
      <a:accent1>
        <a:srgbClr val="67430C"/>
      </a:accent1>
      <a:accent2>
        <a:srgbClr val="D7A534"/>
      </a:accent2>
      <a:accent3>
        <a:srgbClr val="67430C"/>
      </a:accent3>
      <a:accent4>
        <a:srgbClr val="001B71"/>
      </a:accent4>
      <a:accent5>
        <a:srgbClr val="A2A2A2"/>
      </a:accent5>
      <a:accent6>
        <a:srgbClr val="FF0000"/>
      </a:accent6>
      <a:hlink>
        <a:srgbClr val="F4F4F6"/>
      </a:hlink>
      <a:folHlink>
        <a:srgbClr val="383A3F"/>
      </a:folHlink>
    </a:clrScheme>
    <a:fontScheme name="Другая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</TotalTime>
  <Words>1512</Words>
  <Application>Microsoft Office PowerPoint</Application>
  <PresentationFormat>Широкоэкранный</PresentationFormat>
  <Paragraphs>196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copp-user</dc:creator>
  <cp:lastModifiedBy>student</cp:lastModifiedBy>
  <cp:revision>240</cp:revision>
  <dcterms:created xsi:type="dcterms:W3CDTF">2021-11-18T06:01:37Z</dcterms:created>
  <dcterms:modified xsi:type="dcterms:W3CDTF">2025-12-26T06:30:06Z</dcterms:modified>
</cp:coreProperties>
</file>