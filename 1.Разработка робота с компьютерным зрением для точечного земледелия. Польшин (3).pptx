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</p:sldIdLst>
  <p:sldSz cx="12192000" cy="6858000"/>
  <p:notesSz cx="7559675" cy="106918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E8BEA"/>
    <a:srgbClr val="7E86EA"/>
    <a:srgbClr val="9A87F9"/>
    <a:srgbClr val="8F87F9"/>
    <a:srgbClr val="A0A0FA"/>
    <a:srgbClr val="AFA0FA"/>
    <a:srgbClr val="7E6FD9"/>
    <a:srgbClr val="946CDC"/>
    <a:srgbClr val="8E53F4"/>
    <a:srgbClr val="817E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96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276E39-F482-4629-80FF-AE18280773C7}" type="datetimeFigureOut">
              <a:rPr lang="ru-RU" smtClean="0"/>
              <a:t>15.03.2026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24794B-FE4B-4595-A0EC-A8018C1C29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5072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24794B-FE4B-4595-A0EC-A8018C1C2934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40354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24794B-FE4B-4595-A0EC-A8018C1C2934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37925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E5F813E-BC9F-4D84-B47F-8BF9EF788C5D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9" name="PlaceHolder 3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9BB86B5-C7D9-460D-BBEC-B819E17DE73D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ъект с подписью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17" name="PlaceHolder 6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0B2B4A7-A51A-49A3-8A1D-BF5E1336FE75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Рисунок с подписью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23" name="PlaceHolder 6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E3AD02F-5021-4C04-ABF8-ACBABF36B509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27" name="PlaceHolder 4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BC2F2FA-CFE4-4D51-922D-7BA8653BCA37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Обычны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32" name="PlaceHolder 4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990763B-8138-49DE-A239-927771690E87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38" name="PlaceHolder 5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80528A0-8AF9-44BA-B00B-A4950F5D9EDB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360" cy="581112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520" cy="581112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43" name="PlaceHolder 5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8DA4029-042A-48A5-BE6C-55D9A0EE248A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48" name="PlaceHolder 5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BAC63FD-F3CC-4B75-A0B7-8F3854B493E4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Заголовок раздел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880" cy="285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8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Образец текста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53" name="PlaceHolder 5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08C3669-6187-41D7-8709-FCAF2AA347B5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90C4F42-F221-49EF-89E9-87AE8DDD437C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Сравнени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00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000" cy="368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56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560" cy="368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dt" idx="3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7"/>
          <p:cNvSpPr>
            <a:spLocks noGrp="1"/>
          </p:cNvSpPr>
          <p:nvPr>
            <p:ph type="ftr" idx="3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67" name="PlaceHolder 8"/>
          <p:cNvSpPr>
            <a:spLocks noGrp="1"/>
          </p:cNvSpPr>
          <p:nvPr>
            <p:ph type="sldNum" idx="3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8EAC849-112E-49D0-BFCD-47D5E50B5D44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9256F2"/>
            </a:gs>
            <a:gs pos="31000">
              <a:srgbClr val="7F46FD"/>
            </a:gs>
            <a:gs pos="90000">
              <a:srgbClr val="394F9A"/>
            </a:gs>
            <a:gs pos="97000">
              <a:srgbClr val="394F9A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914400" y="1731960"/>
            <a:ext cx="9143280" cy="991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u="none" strike="noStrike" dirty="0">
                <a:solidFill>
                  <a:srgbClr val="EDEEE8"/>
                </a:solidFill>
                <a:effectLst/>
                <a:uFillTx/>
                <a:latin typeface="Cygre ExtraBold"/>
              </a:rPr>
              <a:t>Студенческий стартап </a:t>
            </a:r>
            <a:endParaRPr lang="ru-RU" sz="4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Скругленный прямоугольник 4"/>
          <p:cNvSpPr/>
          <p:nvPr/>
        </p:nvSpPr>
        <p:spPr>
          <a:xfrm>
            <a:off x="7621560" y="2132280"/>
            <a:ext cx="3198960" cy="571680"/>
          </a:xfrm>
          <a:prstGeom prst="roundRect">
            <a:avLst>
              <a:gd name="adj" fmla="val 50000"/>
            </a:avLst>
          </a:prstGeom>
          <a:solidFill>
            <a:srgbClr val="EDEE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subTitle"/>
          </p:nvPr>
        </p:nvSpPr>
        <p:spPr>
          <a:xfrm>
            <a:off x="7682400" y="2186640"/>
            <a:ext cx="3071880" cy="5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lstStyle/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3600" b="0" u="none" strike="noStrike">
                <a:solidFill>
                  <a:srgbClr val="394F9A"/>
                </a:solidFill>
                <a:effectLst/>
                <a:uFillTx/>
                <a:latin typeface="Cygre ExtraBold"/>
              </a:rPr>
              <a:t>VII </a:t>
            </a:r>
            <a:r>
              <a:rPr lang="ru-RU" sz="3600" b="0" u="none" strike="noStrike">
                <a:solidFill>
                  <a:srgbClr val="394F9A"/>
                </a:solidFill>
                <a:effectLst/>
                <a:uFillTx/>
                <a:latin typeface="Cygre ExtraBold"/>
              </a:rPr>
              <a:t>очередь</a:t>
            </a:r>
            <a:endParaRPr lang="ru-RU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Прямоугольник: скругленные углы 3"/>
          <p:cNvSpPr/>
          <p:nvPr/>
        </p:nvSpPr>
        <p:spPr>
          <a:xfrm>
            <a:off x="238680" y="212040"/>
            <a:ext cx="11714040" cy="6479640"/>
          </a:xfrm>
          <a:prstGeom prst="roundRect">
            <a:avLst>
              <a:gd name="adj" fmla="val 6033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2" name="Picture 9"/>
          <p:cNvPicPr/>
          <p:nvPr/>
        </p:nvPicPr>
        <p:blipFill>
          <a:blip r:embed="rId2"/>
          <a:stretch/>
        </p:blipFill>
        <p:spPr>
          <a:xfrm>
            <a:off x="10383840" y="685800"/>
            <a:ext cx="1223640" cy="571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Прямоугольник 10"/>
          <p:cNvSpPr/>
          <p:nvPr/>
        </p:nvSpPr>
        <p:spPr>
          <a:xfrm>
            <a:off x="914400" y="3315600"/>
            <a:ext cx="9609840" cy="169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457200" indent="-370080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Font typeface="OpenSymbol"/>
              <a:buAutoNum type="arabicPeriod"/>
            </a:pPr>
            <a:r>
              <a:rPr lang="ru-RU" sz="2200" b="0" u="none" strike="noStrike" dirty="0">
                <a:solidFill>
                  <a:schemeClr val="lt1"/>
                </a:solidFill>
                <a:effectLst/>
                <a:uFillTx/>
                <a:latin typeface="Involve SemiBold"/>
                <a:ea typeface="Tahoma"/>
              </a:rPr>
              <a:t>Номер заявки — СтС-618733.</a:t>
            </a:r>
            <a:endParaRPr lang="ru-RU" sz="22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70080" defTabSz="914400">
              <a:lnSpc>
                <a:spcPct val="110000"/>
              </a:lnSpc>
              <a:buClr>
                <a:srgbClr val="FFFFFF"/>
              </a:buClr>
              <a:buFont typeface="Arial"/>
              <a:buAutoNum type="arabicPeriod"/>
            </a:pPr>
            <a:r>
              <a:rPr lang="ru-RU" sz="2200" b="0" u="none" strike="noStrike" dirty="0">
                <a:solidFill>
                  <a:schemeClr val="lt1"/>
                </a:solidFill>
                <a:effectLst/>
                <a:uFillTx/>
                <a:latin typeface="Involve SemiBold"/>
                <a:ea typeface="Tahoma"/>
              </a:rPr>
              <a:t>Создание робота с компьютерным зрением для точечного земледелия.</a:t>
            </a:r>
            <a:endParaRPr lang="ru-RU" sz="22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70080" defTabSz="914400">
              <a:lnSpc>
                <a:spcPct val="110000"/>
              </a:lnSpc>
              <a:buClr>
                <a:srgbClr val="FFFFFF"/>
              </a:buClr>
              <a:buFont typeface="Arial"/>
              <a:buAutoNum type="arabicPeriod"/>
            </a:pPr>
            <a:r>
              <a:rPr lang="ru-RU" sz="2200" b="0" u="none" strike="noStrike" dirty="0">
                <a:solidFill>
                  <a:schemeClr val="lt1"/>
                </a:solidFill>
                <a:effectLst/>
                <a:uFillTx/>
                <a:latin typeface="Involve SemiBold"/>
                <a:ea typeface="Tahoma"/>
              </a:rPr>
              <a:t>Польшин Артем Денисович.</a:t>
            </a:r>
            <a:endParaRPr lang="ru-RU" sz="22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4" name="Рисунок 1"/>
          <p:cNvPicPr/>
          <p:nvPr/>
        </p:nvPicPr>
        <p:blipFill>
          <a:blip r:embed="rId3"/>
          <a:stretch/>
        </p:blipFill>
        <p:spPr>
          <a:xfrm>
            <a:off x="424440" y="389520"/>
            <a:ext cx="1343160" cy="10580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9256F2"/>
            </a:gs>
            <a:gs pos="31000">
              <a:srgbClr val="7F46FD"/>
            </a:gs>
            <a:gs pos="90000">
              <a:srgbClr val="394F9A"/>
            </a:gs>
            <a:gs pos="97000">
              <a:srgbClr val="394F9A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1523880" y="519120"/>
            <a:ext cx="9143280" cy="732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3400" b="0" u="none" strike="noStrike">
                <a:solidFill>
                  <a:srgbClr val="EDEEE8"/>
                </a:solidFill>
                <a:effectLst/>
                <a:uFillTx/>
                <a:latin typeface="Cygre ExtraBold"/>
              </a:rPr>
              <a:t>О продукте</a:t>
            </a:r>
            <a:endParaRPr lang="ru-RU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Скругленный прямоугольник 4"/>
          <p:cNvSpPr/>
          <p:nvPr/>
        </p:nvSpPr>
        <p:spPr>
          <a:xfrm>
            <a:off x="588600" y="1928160"/>
            <a:ext cx="5468760" cy="2142360"/>
          </a:xfrm>
          <a:prstGeom prst="roundRect">
            <a:avLst>
              <a:gd name="adj" fmla="val 11350"/>
            </a:avLst>
          </a:prstGeom>
          <a:solidFill>
            <a:srgbClr val="EDEE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subTitle"/>
          </p:nvPr>
        </p:nvSpPr>
        <p:spPr>
          <a:xfrm>
            <a:off x="662760" y="2498910"/>
            <a:ext cx="5361480" cy="10614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1600" b="0" u="none" strike="noStrike" dirty="0">
                <a:solidFill>
                  <a:srgbClr val="394F9A"/>
                </a:solidFill>
                <a:effectLst/>
                <a:uFillTx/>
                <a:latin typeface="Involve Medium"/>
              </a:rPr>
              <a:t>У предпринимателей из области сельского хозяйства высокие материальные и финансовые затраты на обработку почвы и растений, связанные с неэкономным распределением химикатов.</a:t>
            </a:r>
          </a:p>
        </p:txBody>
      </p:sp>
      <p:sp>
        <p:nvSpPr>
          <p:cNvPr id="78" name="Прямоугольник: скругленные углы 3"/>
          <p:cNvSpPr/>
          <p:nvPr/>
        </p:nvSpPr>
        <p:spPr>
          <a:xfrm>
            <a:off x="238680" y="212040"/>
            <a:ext cx="11714040" cy="6479640"/>
          </a:xfrm>
          <a:prstGeom prst="roundRect">
            <a:avLst>
              <a:gd name="adj" fmla="val 6033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Скругленный прямоугольник 4"/>
          <p:cNvSpPr/>
          <p:nvPr/>
        </p:nvSpPr>
        <p:spPr>
          <a:xfrm>
            <a:off x="770040" y="4745520"/>
            <a:ext cx="10574640" cy="1722960"/>
          </a:xfrm>
          <a:prstGeom prst="roundRect">
            <a:avLst>
              <a:gd name="adj" fmla="val 11350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Скругленный прямоугольник 13"/>
          <p:cNvSpPr/>
          <p:nvPr/>
        </p:nvSpPr>
        <p:spPr>
          <a:xfrm>
            <a:off x="302760" y="1612440"/>
            <a:ext cx="3083040" cy="617040"/>
          </a:xfrm>
          <a:prstGeom prst="roundRect">
            <a:avLst>
              <a:gd name="adj" fmla="val 11350"/>
            </a:avLst>
          </a:prstGeom>
          <a:solidFill>
            <a:srgbClr val="7E8B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 dirty="0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Box 6"/>
          <p:cNvSpPr/>
          <p:nvPr/>
        </p:nvSpPr>
        <p:spPr>
          <a:xfrm>
            <a:off x="375120" y="1741899"/>
            <a:ext cx="28501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ru-RU" b="1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ПРОБЛЕМА</a:t>
            </a:r>
            <a:r>
              <a:rPr lang="ru-RU" sz="1400" b="1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 </a:t>
            </a:r>
            <a:r>
              <a:rPr lang="ru-RU" b="1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ПОТРЕБИТЕЛЯ</a:t>
            </a:r>
            <a:endParaRPr lang="ru-RU" sz="1400" b="1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82" name="Скругленный прямоугольник 14"/>
          <p:cNvSpPr/>
          <p:nvPr/>
        </p:nvSpPr>
        <p:spPr>
          <a:xfrm>
            <a:off x="6270840" y="1928160"/>
            <a:ext cx="5298840" cy="2142360"/>
          </a:xfrm>
          <a:prstGeom prst="roundRect">
            <a:avLst>
              <a:gd name="adj" fmla="val 11350"/>
            </a:avLst>
          </a:prstGeom>
          <a:solidFill>
            <a:srgbClr val="EDEE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Скругленный прямоугольник 15"/>
          <p:cNvSpPr/>
          <p:nvPr/>
        </p:nvSpPr>
        <p:spPr>
          <a:xfrm>
            <a:off x="8807400" y="1621800"/>
            <a:ext cx="3083040" cy="617040"/>
          </a:xfrm>
          <a:prstGeom prst="roundRect">
            <a:avLst>
              <a:gd name="adj" fmla="val 11350"/>
            </a:avLst>
          </a:prstGeom>
          <a:solidFill>
            <a:srgbClr val="AFA0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TextBox 7"/>
          <p:cNvSpPr/>
          <p:nvPr/>
        </p:nvSpPr>
        <p:spPr>
          <a:xfrm>
            <a:off x="8832960" y="1741899"/>
            <a:ext cx="30319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ru-RU" b="1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НАШЕ</a:t>
            </a:r>
            <a:r>
              <a:rPr lang="ru-RU" sz="1600" b="1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 </a:t>
            </a:r>
            <a:r>
              <a:rPr lang="ru-RU" b="1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РЕШЕНИЕ</a:t>
            </a:r>
            <a:endParaRPr lang="ru-RU" sz="1600" b="1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8"/>
          <p:cNvSpPr/>
          <p:nvPr/>
        </p:nvSpPr>
        <p:spPr>
          <a:xfrm>
            <a:off x="6407280" y="2303496"/>
            <a:ext cx="5298840" cy="156820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ru-RU" sz="1600" b="0" u="none" strike="noStrike" dirty="0">
                <a:solidFill>
                  <a:srgbClr val="394F9A"/>
                </a:solidFill>
                <a:effectLst/>
                <a:uFillTx/>
                <a:latin typeface="Involve Medium"/>
              </a:rPr>
              <a:t>Наш робот поможет фермерам уменьшить затраты на производство продукции, а также ускорить рост и повысить качество культур посредством более точной обработки растений и своевременного выявления симптомов заболеваний при помощи систем искусственного интеллекта и машинного зрения.</a:t>
            </a:r>
            <a:endParaRPr lang="ru-RU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5"/>
          <p:cNvSpPr/>
          <p:nvPr/>
        </p:nvSpPr>
        <p:spPr>
          <a:xfrm>
            <a:off x="918360" y="5971680"/>
            <a:ext cx="715356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Involve Medium"/>
              </a:rPr>
              <a:t>На данный момент проектное решение находится на стадии идеи.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9"/>
          <p:cNvSpPr/>
          <p:nvPr/>
        </p:nvSpPr>
        <p:spPr>
          <a:xfrm>
            <a:off x="918360" y="5215170"/>
            <a:ext cx="10101600" cy="5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ru-RU" sz="1600" b="0" u="none" strike="noStrike" dirty="0">
                <a:solidFill>
                  <a:schemeClr val="lt1"/>
                </a:solidFill>
                <a:effectLst/>
                <a:uFillTx/>
                <a:latin typeface="Involve Medium"/>
              </a:rPr>
              <a:t>Продукт ориентирован на средние и малые тепличные хозяйства Российской Федерации, преимущественно — Южного и Северо-Кавказского федерального округа.</a:t>
            </a:r>
            <a:endParaRPr lang="ru-RU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Скругленный прямоугольник 16"/>
          <p:cNvSpPr/>
          <p:nvPr/>
        </p:nvSpPr>
        <p:spPr>
          <a:xfrm>
            <a:off x="3787560" y="4428540"/>
            <a:ext cx="4662720" cy="617040"/>
          </a:xfrm>
          <a:prstGeom prst="roundRect">
            <a:avLst>
              <a:gd name="adj" fmla="val 11350"/>
            </a:avLst>
          </a:prstGeom>
          <a:solidFill>
            <a:srgbClr val="8F87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Прямоугольник 12"/>
          <p:cNvSpPr/>
          <p:nvPr/>
        </p:nvSpPr>
        <p:spPr>
          <a:xfrm>
            <a:off x="4016597" y="4575930"/>
            <a:ext cx="4157846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ru-RU" sz="1600" b="1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ОБЛАСТЬ ПРИМЕНЕНИЯ ПРОДУКТА ПРОЕКТА</a:t>
            </a:r>
            <a:endParaRPr lang="ru-RU" sz="1600" b="1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pic>
        <p:nvPicPr>
          <p:cNvPr id="90" name="Picture 1"/>
          <p:cNvPicPr/>
          <p:nvPr/>
        </p:nvPicPr>
        <p:blipFill>
          <a:blip r:embed="rId2"/>
          <a:stretch/>
        </p:blipFill>
        <p:spPr>
          <a:xfrm>
            <a:off x="10375200" y="742680"/>
            <a:ext cx="1223640" cy="571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1" name="Рисунок 3"/>
          <p:cNvPicPr/>
          <p:nvPr/>
        </p:nvPicPr>
        <p:blipFill>
          <a:blip r:embed="rId3"/>
          <a:stretch/>
        </p:blipFill>
        <p:spPr>
          <a:xfrm>
            <a:off x="424440" y="389520"/>
            <a:ext cx="1343160" cy="10580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9256F2"/>
            </a:gs>
            <a:gs pos="31000">
              <a:srgbClr val="7F46FD"/>
            </a:gs>
            <a:gs pos="90000">
              <a:srgbClr val="394F9A"/>
            </a:gs>
            <a:gs pos="97000">
              <a:srgbClr val="394F9A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1451520" y="527040"/>
            <a:ext cx="9143280" cy="732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000" b="1" dirty="0">
                <a:solidFill>
                  <a:srgbClr val="FFFFFF"/>
                </a:solidFill>
                <a:latin typeface="Involve Medium"/>
                <a:ea typeface="+mn-ea"/>
                <a:cs typeface="+mn-cs"/>
              </a:rPr>
              <a:t>Технологичность стартап-проекта</a:t>
            </a:r>
          </a:p>
        </p:txBody>
      </p:sp>
      <p:sp>
        <p:nvSpPr>
          <p:cNvPr id="93" name="Прямоугольник: скругленные углы 3"/>
          <p:cNvSpPr/>
          <p:nvPr/>
        </p:nvSpPr>
        <p:spPr>
          <a:xfrm>
            <a:off x="238680" y="212040"/>
            <a:ext cx="11714040" cy="6479640"/>
          </a:xfrm>
          <a:prstGeom prst="roundRect">
            <a:avLst>
              <a:gd name="adj" fmla="val 6033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Прямоугольник 93"/>
          <p:cNvSpPr/>
          <p:nvPr/>
        </p:nvSpPr>
        <p:spPr>
          <a:xfrm>
            <a:off x="764280" y="1630101"/>
            <a:ext cx="5343480" cy="16524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10000"/>
              </a:lnSpc>
            </a:pPr>
            <a:r>
              <a:rPr lang="ru-RU" b="1" dirty="0">
                <a:solidFill>
                  <a:srgbClr val="FFFFFF"/>
                </a:solidFill>
                <a:latin typeface="Involve Medium"/>
              </a:rPr>
              <a:t>1. Техническое решение проекта:</a:t>
            </a:r>
          </a:p>
          <a:p>
            <a:pPr marL="216000" indent="-216000" defTabSz="914400">
              <a:lnSpc>
                <a:spcPct val="11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500" dirty="0" err="1">
                <a:solidFill>
                  <a:srgbClr val="FFFFFF"/>
                </a:solidFill>
                <a:latin typeface="Involve Medium"/>
              </a:rPr>
              <a:t>Модель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Involve Medium"/>
              </a:rPr>
              <a:t>нейросети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 – </a:t>
            </a:r>
            <a:r>
              <a:rPr lang="en-US" sz="1500" dirty="0" err="1">
                <a:solidFill>
                  <a:srgbClr val="FFFFFF"/>
                </a:solidFill>
                <a:latin typeface="Involve Medium"/>
              </a:rPr>
              <a:t>YOLOv</a:t>
            </a:r>
            <a:r>
              <a:rPr lang="ru-RU" sz="1500" dirty="0">
                <a:solidFill>
                  <a:srgbClr val="FFFFFF"/>
                </a:solidFill>
                <a:latin typeface="Involve Medium"/>
              </a:rPr>
              <a:t>8</a:t>
            </a:r>
          </a:p>
          <a:p>
            <a:pPr marL="216000" indent="-216000" defTabSz="914400">
              <a:lnSpc>
                <a:spcPct val="11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500" dirty="0" err="1">
                <a:solidFill>
                  <a:srgbClr val="FFFFFF"/>
                </a:solidFill>
                <a:latin typeface="Involve Medium"/>
              </a:rPr>
              <a:t>DataSet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’</a:t>
            </a:r>
            <a:r>
              <a:rPr lang="ru-RU" sz="1500" dirty="0">
                <a:solidFill>
                  <a:srgbClr val="FFFFFF"/>
                </a:solidFill>
                <a:latin typeface="Involve Medium"/>
              </a:rPr>
              <a:t>ы, суммарным объемом фотографий 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~</a:t>
            </a:r>
            <a:r>
              <a:rPr lang="ru-RU" sz="1500" dirty="0">
                <a:solidFill>
                  <a:srgbClr val="FFFFFF"/>
                </a:solidFill>
                <a:latin typeface="Involve Medium"/>
              </a:rPr>
              <a:t>14000</a:t>
            </a:r>
          </a:p>
          <a:p>
            <a:pPr marL="216000" indent="-216000" defTabSz="914400">
              <a:lnSpc>
                <a:spcPct val="11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Платформа 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Arduino</a:t>
            </a:r>
            <a:r>
              <a:rPr lang="ru-RU" sz="1500" dirty="0">
                <a:solidFill>
                  <a:srgbClr val="FFFFFF"/>
                </a:solidFill>
                <a:latin typeface="Involve Medium"/>
              </a:rPr>
              <a:t>.</a:t>
            </a:r>
          </a:p>
          <a:p>
            <a:pPr marL="216000" indent="-216000" defTabSz="914400">
              <a:lnSpc>
                <a:spcPct val="11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Разработанное Программное Обеспечение.</a:t>
            </a:r>
          </a:p>
          <a:p>
            <a:pPr marL="216000" indent="-216000" defTabSz="914400">
              <a:lnSpc>
                <a:spcPct val="11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Камера высокого разрешения.</a:t>
            </a:r>
          </a:p>
        </p:txBody>
      </p:sp>
      <p:sp>
        <p:nvSpPr>
          <p:cNvPr id="95" name="Прямоугольник 94"/>
          <p:cNvSpPr/>
          <p:nvPr/>
        </p:nvSpPr>
        <p:spPr>
          <a:xfrm>
            <a:off x="764280" y="3502321"/>
            <a:ext cx="5319360" cy="202987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ru-RU" b="1" dirty="0">
                <a:solidFill>
                  <a:srgbClr val="FFFFFF"/>
                </a:solidFill>
                <a:latin typeface="Involve Medium"/>
              </a:rPr>
              <a:t>2. Преимущества выбранного технического решения:</a:t>
            </a:r>
          </a:p>
          <a:p>
            <a:pPr marL="216000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Преимущество технологии </a:t>
            </a:r>
            <a:r>
              <a:rPr lang="en-US" sz="1500" dirty="0" err="1">
                <a:solidFill>
                  <a:srgbClr val="FFFFFF"/>
                </a:solidFill>
                <a:latin typeface="Involve Medium"/>
              </a:rPr>
              <a:t>YOLOv</a:t>
            </a:r>
            <a:r>
              <a:rPr lang="ru-RU" sz="1500" dirty="0">
                <a:solidFill>
                  <a:srgbClr val="FFFFFF"/>
                </a:solidFill>
                <a:latin typeface="Involve Medium"/>
              </a:rPr>
              <a:t>8</a:t>
            </a:r>
            <a:endParaRPr lang="en-US" sz="1500" dirty="0">
              <a:solidFill>
                <a:srgbClr val="FFFFFF"/>
              </a:solidFill>
              <a:latin typeface="Involve Medium"/>
            </a:endParaRPr>
          </a:p>
          <a:p>
            <a:pPr marL="216000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500" dirty="0" err="1">
                <a:solidFill>
                  <a:srgbClr val="FFFFFF"/>
                </a:solidFill>
                <a:latin typeface="Involve Medium"/>
              </a:rPr>
              <a:t>Средняя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Involve Medium"/>
              </a:rPr>
              <a:t>точность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Involve Medium"/>
              </a:rPr>
              <a:t>определения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 - ~97%.</a:t>
            </a:r>
            <a:r>
              <a:rPr lang="ru-RU" sz="1500" dirty="0">
                <a:solidFill>
                  <a:srgbClr val="FFFFFF"/>
                </a:solidFill>
                <a:latin typeface="Involve Medium"/>
              </a:rPr>
              <a:t> Высокая скорость, обработка объектов в реальном времени</a:t>
            </a:r>
          </a:p>
          <a:p>
            <a:pPr marL="216000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Преимущество технологии </a:t>
            </a:r>
            <a:r>
              <a:rPr lang="ru-RU" sz="1500" dirty="0" err="1">
                <a:solidFill>
                  <a:srgbClr val="FFFFFF"/>
                </a:solidFill>
                <a:latin typeface="Involve Medium"/>
              </a:rPr>
              <a:t>Arduino</a:t>
            </a:r>
            <a:endParaRPr lang="en-US" sz="1500" dirty="0">
              <a:solidFill>
                <a:srgbClr val="FFFFFF"/>
              </a:solidFill>
              <a:latin typeface="Involve Medium"/>
            </a:endParaRPr>
          </a:p>
          <a:p>
            <a:pPr marL="216000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500" dirty="0" err="1">
                <a:solidFill>
                  <a:srgbClr val="FFFFFF"/>
                </a:solidFill>
                <a:latin typeface="Involve Medium"/>
              </a:rPr>
              <a:t>Высокое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Involve Medium"/>
              </a:rPr>
              <a:t>соотношение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Involve Medium"/>
              </a:rPr>
              <a:t>цены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 и </a:t>
            </a:r>
            <a:r>
              <a:rPr lang="en-US" sz="1500" dirty="0" err="1">
                <a:solidFill>
                  <a:srgbClr val="FFFFFF"/>
                </a:solidFill>
                <a:latin typeface="Involve Medium"/>
              </a:rPr>
              <a:t>качества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, </a:t>
            </a:r>
            <a:r>
              <a:rPr lang="en-US" sz="1500" dirty="0" err="1">
                <a:solidFill>
                  <a:srgbClr val="FFFFFF"/>
                </a:solidFill>
                <a:latin typeface="Involve Medium"/>
              </a:rPr>
              <a:t>простота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 в</a:t>
            </a:r>
            <a:r>
              <a:rPr lang="ru-RU" sz="1500" dirty="0">
                <a:solidFill>
                  <a:srgbClr val="FFFFFF"/>
                </a:solidFill>
                <a:latin typeface="Involve Medium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Involve Medium"/>
              </a:rPr>
              <a:t>освоении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, </a:t>
            </a:r>
            <a:r>
              <a:rPr lang="en-US" sz="1500" dirty="0" err="1">
                <a:solidFill>
                  <a:srgbClr val="FFFFFF"/>
                </a:solidFill>
                <a:latin typeface="Involve Medium"/>
              </a:rPr>
              <a:t>дешевизна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 </a:t>
            </a:r>
            <a:endParaRPr lang="ru-RU" sz="1500" dirty="0">
              <a:solidFill>
                <a:srgbClr val="FFFFFF"/>
              </a:solidFill>
              <a:latin typeface="Involve Medium"/>
            </a:endParaRPr>
          </a:p>
        </p:txBody>
      </p:sp>
      <p:sp>
        <p:nvSpPr>
          <p:cNvPr id="96" name="Прямоугольник 95"/>
          <p:cNvSpPr/>
          <p:nvPr/>
        </p:nvSpPr>
        <p:spPr>
          <a:xfrm>
            <a:off x="6014472" y="1630101"/>
            <a:ext cx="5311080" cy="179903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ru-RU" b="1" dirty="0">
                <a:solidFill>
                  <a:srgbClr val="FFFFFF"/>
                </a:solidFill>
                <a:latin typeface="Involve Medium"/>
              </a:rPr>
              <a:t>3. Имеющийся задел:</a:t>
            </a: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Уровень технологической готовности - TRL1.</a:t>
            </a:r>
            <a:endParaRPr lang="en-US" sz="1500" dirty="0">
              <a:solidFill>
                <a:srgbClr val="FFFFFF"/>
              </a:solidFill>
              <a:latin typeface="Involve Medium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Сформулирована гипотеза, определён командный состав, основные технологии, найдено 6 </a:t>
            </a:r>
            <a:r>
              <a:rPr lang="ru-RU" sz="1500" dirty="0" err="1">
                <a:solidFill>
                  <a:srgbClr val="FFFFFF"/>
                </a:solidFill>
                <a:latin typeface="Involve Medium"/>
              </a:rPr>
              <a:t>DataSet'ов</a:t>
            </a:r>
            <a:r>
              <a:rPr lang="ru-RU" sz="1500" dirty="0">
                <a:solidFill>
                  <a:srgbClr val="FFFFFF"/>
                </a:solidFill>
                <a:latin typeface="Involve Medium"/>
              </a:rPr>
              <a:t>, суммарным объёмом в ~14000 фотографий, определена основная модель используемого искусственного интеллекта.</a:t>
            </a:r>
          </a:p>
          <a:p>
            <a:pPr>
              <a:lnSpc>
                <a:spcPct val="100000"/>
              </a:lnSpc>
            </a:pPr>
            <a:endParaRPr lang="ru-RU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Прямоугольник 96"/>
          <p:cNvSpPr/>
          <p:nvPr/>
        </p:nvSpPr>
        <p:spPr>
          <a:xfrm>
            <a:off x="6014520" y="3502321"/>
            <a:ext cx="5561280" cy="30455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ru-RU" b="1" dirty="0">
                <a:solidFill>
                  <a:srgbClr val="FFFFFF"/>
                </a:solidFill>
                <a:latin typeface="Involve Medium"/>
              </a:rPr>
              <a:t>4. Соответствие направлению национального проекта технологического лидерства «Автономная (беспилотная) самоходная техника, прицепное и навесное оборудование к ней»:</a:t>
            </a: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Создание отечественного беспилотного робота с подключаемыми к нему модулями для персонализации под конкретные нужды и оптимизации финансовых и материальных расходов на обработку почвы и растений путём точечной обработки, а также повышения количества и качества выпускаемой тепличными комплексами продукции. Такой робот будет заменять зарубежные аналоги, что укрепит технологический суверенитет страны.</a:t>
            </a:r>
          </a:p>
        </p:txBody>
      </p:sp>
      <p:pic>
        <p:nvPicPr>
          <p:cNvPr id="98" name="Picture 2"/>
          <p:cNvPicPr/>
          <p:nvPr/>
        </p:nvPicPr>
        <p:blipFill>
          <a:blip r:embed="rId2"/>
          <a:stretch/>
        </p:blipFill>
        <p:spPr>
          <a:xfrm>
            <a:off x="10352160" y="745200"/>
            <a:ext cx="1223640" cy="571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9" name="Рисунок 2"/>
          <p:cNvPicPr/>
          <p:nvPr/>
        </p:nvPicPr>
        <p:blipFill>
          <a:blip r:embed="rId3"/>
          <a:stretch/>
        </p:blipFill>
        <p:spPr>
          <a:xfrm>
            <a:off x="399960" y="394200"/>
            <a:ext cx="1343160" cy="10580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820619" y="488027"/>
            <a:ext cx="10514880" cy="951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b="1" dirty="0">
                <a:solidFill>
                  <a:srgbClr val="604AD1"/>
                </a:solidFill>
                <a:latin typeface="Involve Medium"/>
              </a:rPr>
              <a:t>Аналоги и </a:t>
            </a:r>
            <a:r>
              <a:rPr lang="ru-RU" b="1" u="none" strike="noStrike" dirty="0">
                <a:solidFill>
                  <a:srgbClr val="604AD1"/>
                </a:solidFill>
                <a:effectLst/>
                <a:uFillTx/>
                <a:latin typeface="Involve Medium"/>
              </a:rPr>
              <a:t>конкуренты</a:t>
            </a:r>
            <a:endParaRPr lang="ru-RU" b="0" u="none" strike="noStrike" dirty="0">
              <a:solidFill>
                <a:srgbClr val="604AD1"/>
              </a:solidFill>
              <a:effectLst/>
              <a:uFillTx/>
              <a:latin typeface="Involve Medium"/>
            </a:endParaRPr>
          </a:p>
        </p:txBody>
      </p:sp>
      <p:sp>
        <p:nvSpPr>
          <p:cNvPr id="101" name="Прямоугольник: скругленные углы 3"/>
          <p:cNvSpPr/>
          <p:nvPr/>
        </p:nvSpPr>
        <p:spPr>
          <a:xfrm>
            <a:off x="238680" y="212040"/>
            <a:ext cx="11714040" cy="6479640"/>
          </a:xfrm>
          <a:prstGeom prst="roundRect">
            <a:avLst>
              <a:gd name="adj" fmla="val 6033"/>
            </a:avLst>
          </a:prstGeom>
          <a:noFill/>
          <a:ln>
            <a:solidFill>
              <a:srgbClr val="634A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b="0" strike="noStrike" dirty="0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Прямоугольник: скругленные углы 5"/>
          <p:cNvSpPr/>
          <p:nvPr/>
        </p:nvSpPr>
        <p:spPr>
          <a:xfrm>
            <a:off x="508679" y="1919366"/>
            <a:ext cx="3436560" cy="4532899"/>
          </a:xfrm>
          <a:prstGeom prst="roundRect">
            <a:avLst>
              <a:gd name="adj" fmla="val 10064"/>
            </a:avLst>
          </a:prstGeom>
          <a:solidFill>
            <a:srgbClr val="4D4C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b="0" u="none" strike="noStrike" dirty="0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Прямоугольник: скругленные углы 6"/>
          <p:cNvSpPr/>
          <p:nvPr/>
        </p:nvSpPr>
        <p:spPr>
          <a:xfrm>
            <a:off x="4377720" y="1917258"/>
            <a:ext cx="3436560" cy="4511545"/>
          </a:xfrm>
          <a:prstGeom prst="roundRect">
            <a:avLst>
              <a:gd name="adj" fmla="val 10064"/>
            </a:avLst>
          </a:prstGeom>
          <a:solidFill>
            <a:srgbClr val="6C48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b="0" u="none" strike="noStrike" dirty="0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Прямоугольник: скругленные углы 7"/>
          <p:cNvSpPr/>
          <p:nvPr/>
        </p:nvSpPr>
        <p:spPr>
          <a:xfrm>
            <a:off x="8246422" y="1917258"/>
            <a:ext cx="3436560" cy="4511545"/>
          </a:xfrm>
          <a:prstGeom prst="roundRect">
            <a:avLst>
              <a:gd name="adj" fmla="val 10064"/>
            </a:avLst>
          </a:prstGeom>
          <a:solidFill>
            <a:srgbClr val="884D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b="0" u="none" strike="noStrike" dirty="0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Подзаголовок 2"/>
          <p:cNvSpPr/>
          <p:nvPr/>
        </p:nvSpPr>
        <p:spPr>
          <a:xfrm>
            <a:off x="508679" y="2121549"/>
            <a:ext cx="3436560" cy="3445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2000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Существующие аналоги</a:t>
            </a:r>
            <a:endParaRPr lang="ru-RU" sz="200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106" name="Подзаголовок 2"/>
          <p:cNvSpPr/>
          <p:nvPr/>
        </p:nvSpPr>
        <p:spPr>
          <a:xfrm>
            <a:off x="8395642" y="2120440"/>
            <a:ext cx="3329635" cy="36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2000" dirty="0">
                <a:solidFill>
                  <a:schemeClr val="bg1"/>
                </a:solidFill>
                <a:latin typeface="Involve Medium"/>
              </a:rPr>
              <a:t>Востребованность продукта</a:t>
            </a:r>
          </a:p>
        </p:txBody>
      </p:sp>
      <p:sp>
        <p:nvSpPr>
          <p:cNvPr id="107" name="Подзаголовок 2"/>
          <p:cNvSpPr/>
          <p:nvPr/>
        </p:nvSpPr>
        <p:spPr>
          <a:xfrm>
            <a:off x="4535719" y="2093896"/>
            <a:ext cx="3138120" cy="701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2000" dirty="0">
                <a:solidFill>
                  <a:schemeClr val="bg1"/>
                </a:solidFill>
                <a:latin typeface="Involve Medium"/>
              </a:rPr>
              <a:t>Конкурентные преимущества продукта</a:t>
            </a:r>
          </a:p>
        </p:txBody>
      </p:sp>
      <p:sp>
        <p:nvSpPr>
          <p:cNvPr id="108" name="Прямоугольник 107"/>
          <p:cNvSpPr/>
          <p:nvPr/>
        </p:nvSpPr>
        <p:spPr>
          <a:xfrm>
            <a:off x="562479" y="2592118"/>
            <a:ext cx="3328959" cy="35995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179388" indent="-179388">
              <a:lnSpc>
                <a:spcPct val="100000"/>
              </a:lnSpc>
              <a:buAutoNum type="arabicPeriod"/>
            </a:pPr>
            <a:r>
              <a:rPr lang="ru-RU" sz="1200" b="1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Cognitive </a:t>
            </a:r>
            <a:r>
              <a:rPr lang="ru-RU" sz="1200" b="1" u="none" strike="noStrike" dirty="0" err="1">
                <a:solidFill>
                  <a:schemeClr val="bg1"/>
                </a:solidFill>
                <a:effectLst/>
                <a:uFillTx/>
                <a:latin typeface="Involve Medium"/>
              </a:rPr>
              <a:t>pilot</a:t>
            </a:r>
            <a:r>
              <a:rPr lang="ru-RU" sz="1200" b="1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 </a:t>
            </a:r>
            <a:r>
              <a:rPr lang="ru-RU" sz="1200" b="0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- Россия; Разработка полевых тракторов, требующих оператора; Сдача в аренду.</a:t>
            </a:r>
          </a:p>
          <a:p>
            <a:pPr>
              <a:lnSpc>
                <a:spcPct val="100000"/>
              </a:lnSpc>
            </a:pPr>
            <a:endParaRPr lang="ru-RU" sz="1200" b="0" u="none" strike="noStrike" dirty="0">
              <a:solidFill>
                <a:schemeClr val="bg1"/>
              </a:solidFill>
              <a:effectLst/>
              <a:uFillTx/>
              <a:latin typeface="Involve Medium"/>
            </a:endParaRPr>
          </a:p>
          <a:p>
            <a:pPr marL="179388" indent="-179388">
              <a:lnSpc>
                <a:spcPct val="100000"/>
              </a:lnSpc>
            </a:pPr>
            <a:r>
              <a:rPr lang="ru-RU" sz="1200" b="1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2. ООО «</a:t>
            </a:r>
            <a:r>
              <a:rPr lang="ru-RU" sz="1200" b="1" u="none" strike="noStrike" dirty="0" err="1">
                <a:solidFill>
                  <a:schemeClr val="bg1"/>
                </a:solidFill>
                <a:effectLst/>
                <a:uFillTx/>
                <a:latin typeface="Involve Medium"/>
              </a:rPr>
              <a:t>ЭРлаб</a:t>
            </a:r>
            <a:r>
              <a:rPr lang="ru-RU" sz="1200" b="1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» </a:t>
            </a:r>
            <a:r>
              <a:rPr lang="ru-RU" sz="1200" b="0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- Россия; Разработка тепличных и полевых роботов; Сдача в аренду. Blue </a:t>
            </a:r>
            <a:r>
              <a:rPr lang="ru-RU" sz="1200" b="0" u="none" strike="noStrike" dirty="0" err="1">
                <a:solidFill>
                  <a:schemeClr val="bg1"/>
                </a:solidFill>
                <a:effectLst/>
                <a:uFillTx/>
                <a:latin typeface="Involve Medium"/>
              </a:rPr>
              <a:t>Rier</a:t>
            </a:r>
            <a:r>
              <a:rPr lang="ru-RU" sz="1200" b="0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 - США; Информация в открытых источниках отсутствует в связи с введёнными санкциями; </a:t>
            </a:r>
          </a:p>
          <a:p>
            <a:pPr>
              <a:lnSpc>
                <a:spcPct val="100000"/>
              </a:lnSpc>
            </a:pPr>
            <a:endParaRPr lang="ru-RU" sz="1200" b="0" u="none" strike="noStrike" dirty="0">
              <a:solidFill>
                <a:schemeClr val="bg1"/>
              </a:solidFill>
              <a:effectLst/>
              <a:uFillTx/>
              <a:latin typeface="Involve Medium"/>
            </a:endParaRPr>
          </a:p>
          <a:p>
            <a:pPr marL="179388" indent="-179388">
              <a:lnSpc>
                <a:spcPct val="100000"/>
              </a:lnSpc>
            </a:pPr>
            <a:r>
              <a:rPr lang="ru-RU" sz="1200" b="1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3. </a:t>
            </a:r>
            <a:r>
              <a:rPr lang="ru-RU" sz="1200" b="1" u="none" strike="noStrike" dirty="0" err="1">
                <a:solidFill>
                  <a:schemeClr val="bg1"/>
                </a:solidFill>
                <a:effectLst/>
                <a:uFillTx/>
                <a:latin typeface="Involve Medium"/>
              </a:rPr>
              <a:t>Naïo</a:t>
            </a:r>
            <a:r>
              <a:rPr lang="ru-RU" sz="1200" b="1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 Technologies</a:t>
            </a:r>
            <a:r>
              <a:rPr lang="ru-RU" sz="1200" b="0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 - Франция; Разработка как тепличных, так и полевых роботов; Сдача в аренду и продажа; Не ведёт торговых отношений с Россией из-за политики компании, а также из-за введённых санкций; </a:t>
            </a:r>
          </a:p>
          <a:p>
            <a:pPr>
              <a:lnSpc>
                <a:spcPct val="100000"/>
              </a:lnSpc>
            </a:pPr>
            <a:endParaRPr lang="ru-RU" sz="1200" b="0" u="none" strike="noStrike" dirty="0">
              <a:solidFill>
                <a:schemeClr val="bg1"/>
              </a:solidFill>
              <a:effectLst/>
              <a:uFillTx/>
              <a:latin typeface="Involve Medium"/>
            </a:endParaRPr>
          </a:p>
          <a:p>
            <a:pPr marL="179388" indent="-179388">
              <a:lnSpc>
                <a:spcPct val="100000"/>
              </a:lnSpc>
            </a:pPr>
            <a:r>
              <a:rPr lang="ru-RU" sz="1200" b="1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4. </a:t>
            </a:r>
            <a:r>
              <a:rPr lang="ru-RU" sz="1200" b="1" u="none" strike="noStrike" dirty="0" err="1">
                <a:solidFill>
                  <a:schemeClr val="bg1"/>
                </a:solidFill>
                <a:effectLst/>
                <a:uFillTx/>
                <a:latin typeface="Involve Medium"/>
              </a:rPr>
              <a:t>MetaMotion</a:t>
            </a:r>
            <a:r>
              <a:rPr lang="ru-RU" sz="1200" b="1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 </a:t>
            </a:r>
            <a:r>
              <a:rPr lang="ru-RU" sz="1200" b="0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- Израиль; Разработка тепличных и полевых роботов; Продажа заблокирована в связи с санкциями.</a:t>
            </a:r>
          </a:p>
        </p:txBody>
      </p:sp>
      <p:sp>
        <p:nvSpPr>
          <p:cNvPr id="109" name="Прямоугольник 108"/>
          <p:cNvSpPr/>
          <p:nvPr/>
        </p:nvSpPr>
        <p:spPr>
          <a:xfrm>
            <a:off x="4478776" y="2969706"/>
            <a:ext cx="3325320" cy="30455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28600" indent="-228600">
              <a:lnSpc>
                <a:spcPct val="100000"/>
              </a:lnSpc>
              <a:buFont typeface="+mj-lt"/>
              <a:buAutoNum type="arabicPeriod"/>
            </a:pPr>
            <a:r>
              <a:rPr lang="ru-RU" sz="1200" dirty="0">
                <a:solidFill>
                  <a:schemeClr val="bg1"/>
                </a:solidFill>
                <a:latin typeface="Involve Medium"/>
              </a:rPr>
              <a:t>Модульность конструкции позволит персонализировать роботов под конкретные нужды, увеличивая их эффективность;</a:t>
            </a:r>
          </a:p>
          <a:p>
            <a:pPr>
              <a:lnSpc>
                <a:spcPct val="100000"/>
              </a:lnSpc>
            </a:pPr>
            <a:r>
              <a:rPr lang="ru-RU" sz="1200" dirty="0">
                <a:solidFill>
                  <a:schemeClr val="bg1"/>
                </a:solidFill>
                <a:latin typeface="Involve Medium"/>
              </a:rPr>
              <a:t> </a:t>
            </a:r>
          </a:p>
          <a:p>
            <a:pPr marL="179388" indent="-179388">
              <a:lnSpc>
                <a:spcPct val="100000"/>
              </a:lnSpc>
            </a:pPr>
            <a:r>
              <a:rPr lang="ru-RU" sz="1200" dirty="0">
                <a:solidFill>
                  <a:schemeClr val="bg1"/>
                </a:solidFill>
                <a:latin typeface="Involve Medium"/>
              </a:rPr>
              <a:t>2. Экономия ресурсов поможет производителям повысить прибыльность посредством снижения себестоимости продукции, а также снизить цену на свою продукцию, что сможет привлечь большее количество клиентов; </a:t>
            </a:r>
          </a:p>
          <a:p>
            <a:pPr>
              <a:lnSpc>
                <a:spcPct val="100000"/>
              </a:lnSpc>
            </a:pPr>
            <a:endParaRPr lang="ru-RU" sz="1200" dirty="0">
              <a:solidFill>
                <a:schemeClr val="bg1"/>
              </a:solidFill>
              <a:latin typeface="Involve Medium"/>
            </a:endParaRPr>
          </a:p>
          <a:p>
            <a:pPr marL="179388" indent="-179388">
              <a:lnSpc>
                <a:spcPct val="100000"/>
              </a:lnSpc>
            </a:pPr>
            <a:r>
              <a:rPr lang="ru-RU" sz="1200" dirty="0">
                <a:solidFill>
                  <a:schemeClr val="bg1"/>
                </a:solidFill>
                <a:latin typeface="Involve Medium"/>
              </a:rPr>
              <a:t>3. Возможность покупки продукта в долгосрочной перспективе снизит финансовые затраты на использование роботов.</a:t>
            </a:r>
          </a:p>
        </p:txBody>
      </p:sp>
      <p:sp>
        <p:nvSpPr>
          <p:cNvPr id="110" name="Прямоугольник 109"/>
          <p:cNvSpPr/>
          <p:nvPr/>
        </p:nvSpPr>
        <p:spPr>
          <a:xfrm>
            <a:off x="8395642" y="3153049"/>
            <a:ext cx="3138120" cy="212220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228600" indent="-228600" defTabSz="914400">
              <a:lnSpc>
                <a:spcPct val="100000"/>
              </a:lnSpc>
              <a:buAutoNum type="arabicPeriod"/>
            </a:pPr>
            <a:r>
              <a:rPr lang="ru-RU" sz="1200" dirty="0">
                <a:solidFill>
                  <a:schemeClr val="bg1"/>
                </a:solidFill>
                <a:latin typeface="Involve Medium"/>
              </a:rPr>
              <a:t>Увеличение количество населения, а также тренды автоматизации процессов неминуемо ведут к развитию сельского хозяйства.</a:t>
            </a:r>
          </a:p>
          <a:p>
            <a:pPr defTabSz="914400">
              <a:lnSpc>
                <a:spcPct val="100000"/>
              </a:lnSpc>
            </a:pPr>
            <a:endParaRPr lang="ru-RU" sz="1200" dirty="0">
              <a:solidFill>
                <a:schemeClr val="bg1"/>
              </a:solidFill>
              <a:latin typeface="Involve Medium"/>
            </a:endParaRPr>
          </a:p>
          <a:p>
            <a:pPr marL="179388" indent="-179388" defTabSz="914400">
              <a:lnSpc>
                <a:spcPct val="100000"/>
              </a:lnSpc>
            </a:pPr>
            <a:r>
              <a:rPr lang="ru-RU" sz="1200" dirty="0">
                <a:solidFill>
                  <a:schemeClr val="bg1"/>
                </a:solidFill>
                <a:latin typeface="Involve Medium"/>
              </a:rPr>
              <a:t>2. Кадровый голод: 11% работников младше 40 лет.</a:t>
            </a:r>
          </a:p>
          <a:p>
            <a:pPr marL="179388" indent="-179388" defTabSz="914400">
              <a:lnSpc>
                <a:spcPct val="100000"/>
              </a:lnSpc>
            </a:pPr>
            <a:endParaRPr lang="ru-RU" sz="1200" dirty="0">
              <a:solidFill>
                <a:schemeClr val="bg1"/>
              </a:solidFill>
              <a:latin typeface="Involve Medium"/>
            </a:endParaRPr>
          </a:p>
          <a:p>
            <a:pPr marL="179388" indent="-179388" defTabSz="914400">
              <a:lnSpc>
                <a:spcPct val="100000"/>
              </a:lnSpc>
            </a:pPr>
            <a:r>
              <a:rPr lang="ru-RU" sz="1200" dirty="0">
                <a:solidFill>
                  <a:schemeClr val="bg1"/>
                </a:solidFill>
                <a:latin typeface="Involve Medium"/>
              </a:rPr>
              <a:t>3. Увеличение количества выпускаемой продукции невозможно без наращивания производственных мощностей.</a:t>
            </a:r>
          </a:p>
        </p:txBody>
      </p:sp>
      <p:pic>
        <p:nvPicPr>
          <p:cNvPr id="111" name="Picture 3"/>
          <p:cNvPicPr/>
          <p:nvPr/>
        </p:nvPicPr>
        <p:blipFill>
          <a:blip r:embed="rId3"/>
          <a:stretch/>
        </p:blipFill>
        <p:spPr>
          <a:xfrm>
            <a:off x="10352520" y="745200"/>
            <a:ext cx="1223640" cy="571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2" name="Рисунок 4"/>
          <p:cNvPicPr/>
          <p:nvPr/>
        </p:nvPicPr>
        <p:blipFill>
          <a:blip r:embed="rId4"/>
          <a:stretch/>
        </p:blipFill>
        <p:spPr>
          <a:xfrm>
            <a:off x="400320" y="394200"/>
            <a:ext cx="1343160" cy="1058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F490B51-01BB-67E7-178A-789162BBD8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639" y="1569853"/>
            <a:ext cx="11120841" cy="4571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9256F2"/>
            </a:gs>
            <a:gs pos="100000">
              <a:srgbClr val="394F9A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Скругленный прямоугольник 7"/>
          <p:cNvSpPr/>
          <p:nvPr/>
        </p:nvSpPr>
        <p:spPr>
          <a:xfrm>
            <a:off x="-82260" y="754200"/>
            <a:ext cx="5591880" cy="563040"/>
          </a:xfrm>
          <a:prstGeom prst="roundRect">
            <a:avLst>
              <a:gd name="adj" fmla="val 16667"/>
            </a:avLst>
          </a:prstGeom>
          <a:solidFill>
            <a:srgbClr val="2B1A5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671760" defTabSz="914400">
              <a:lnSpc>
                <a:spcPct val="100000"/>
              </a:lnSpc>
            </a:pPr>
            <a:r>
              <a:rPr lang="ru-RU" sz="2000" b="1" u="none" strike="noStrike" dirty="0">
                <a:solidFill>
                  <a:schemeClr val="lt1"/>
                </a:solidFill>
                <a:effectLst/>
                <a:uFillTx/>
                <a:latin typeface="Century Gothic"/>
              </a:rPr>
              <a:t>ФИНАНСОВАЯ МОДЕЛЬ И РЫНОК</a:t>
            </a:r>
            <a:endParaRPr lang="ru-RU" sz="20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Текст 2"/>
          <p:cNvSpPr/>
          <p:nvPr/>
        </p:nvSpPr>
        <p:spPr>
          <a:xfrm>
            <a:off x="222326" y="4448768"/>
            <a:ext cx="7781760" cy="2016686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t">
            <a:noAutofit/>
          </a:bodyPr>
          <a:lstStyle/>
          <a:p>
            <a:pPr marL="285750" indent="-285750" defTabSz="914400">
              <a:lnSpc>
                <a:spcPct val="100000"/>
              </a:lnSpc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FFFFFF"/>
                </a:solidFill>
                <a:latin typeface="Involve Medium"/>
              </a:rPr>
              <a:t>В первые месяцы планируется привлекать по одному пользователю, в последующие месяцы это число должно увеличиваться.</a:t>
            </a:r>
          </a:p>
          <a:p>
            <a:pPr marL="285750" indent="-285750" defTabSz="914400">
              <a:lnSpc>
                <a:spcPct val="100000"/>
              </a:lnSpc>
              <a:buClr>
                <a:srgbClr val="FFFFFF"/>
              </a:buClr>
              <a:buFont typeface="Arial" panose="020B0604020202020204" pitchFamily="34" charset="0"/>
              <a:buChar char="•"/>
            </a:pPr>
            <a:endParaRPr lang="ru-RU" dirty="0">
              <a:solidFill>
                <a:srgbClr val="FFFFFF"/>
              </a:solidFill>
              <a:latin typeface="Involve Medium"/>
            </a:endParaRPr>
          </a:p>
          <a:p>
            <a:pPr marL="285750" indent="-285750" defTabSz="914400">
              <a:lnSpc>
                <a:spcPct val="100000"/>
              </a:lnSpc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FFFFFF"/>
                </a:solidFill>
                <a:latin typeface="Involve Medium"/>
              </a:rPr>
              <a:t>Примерная стоимость робота будет составлять 4млн. руб., следовательно, средний чек составит 12млн. руб.</a:t>
            </a:r>
          </a:p>
          <a:p>
            <a:pPr marL="285750" indent="-285750" defTabSz="914400">
              <a:lnSpc>
                <a:spcPct val="100000"/>
              </a:lnSpc>
              <a:buClr>
                <a:srgbClr val="FFFFFF"/>
              </a:buClr>
              <a:buFont typeface="Arial" panose="020B0604020202020204" pitchFamily="34" charset="0"/>
              <a:buChar char="•"/>
            </a:pPr>
            <a:endParaRPr lang="ru-RU" dirty="0">
              <a:solidFill>
                <a:srgbClr val="FFFFFF"/>
              </a:solidFill>
              <a:latin typeface="Involve Medium"/>
            </a:endParaRPr>
          </a:p>
          <a:p>
            <a:pPr marL="285750" indent="-285750" defTabSz="914400">
              <a:lnSpc>
                <a:spcPct val="100000"/>
              </a:lnSpc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FFFFFF"/>
                </a:solidFill>
                <a:latin typeface="Involve Medium"/>
              </a:rPr>
              <a:t>Среднее кол-во продаж в квартал - 3</a:t>
            </a: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316F71D4-83AF-3A9C-3C29-8DDD793E0F39}"/>
              </a:ext>
            </a:extLst>
          </p:cNvPr>
          <p:cNvGrpSpPr/>
          <p:nvPr/>
        </p:nvGrpSpPr>
        <p:grpSpPr>
          <a:xfrm>
            <a:off x="8557502" y="1522563"/>
            <a:ext cx="3318600" cy="3260880"/>
            <a:chOff x="8693580" y="1529640"/>
            <a:chExt cx="3318600" cy="3260880"/>
          </a:xfrm>
        </p:grpSpPr>
        <p:sp>
          <p:nvSpPr>
            <p:cNvPr id="127" name="Овал 5"/>
            <p:cNvSpPr/>
            <p:nvPr/>
          </p:nvSpPr>
          <p:spPr>
            <a:xfrm>
              <a:off x="8693580" y="1529640"/>
              <a:ext cx="3244653" cy="3260880"/>
            </a:xfrm>
            <a:prstGeom prst="ellipse">
              <a:avLst/>
            </a:prstGeom>
            <a:solidFill>
              <a:srgbClr val="2B1A52"/>
            </a:solidFill>
            <a:ln>
              <a:gradFill flip="none" rotWithShape="1">
                <a:gsLst>
                  <a:gs pos="0">
                    <a:srgbClr val="CFC2EC"/>
                  </a:gs>
                  <a:gs pos="28000">
                    <a:srgbClr val="8E70D2"/>
                  </a:gs>
                  <a:gs pos="63000">
                    <a:srgbClr val="3C2472"/>
                  </a:gs>
                  <a:gs pos="100000">
                    <a:srgbClr val="2B1A52"/>
                  </a:gs>
                </a:gsLst>
                <a:lin ang="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28" name="Овал 8"/>
            <p:cNvSpPr/>
            <p:nvPr/>
          </p:nvSpPr>
          <p:spPr>
            <a:xfrm>
              <a:off x="9406546" y="1879257"/>
              <a:ext cx="2605634" cy="2516780"/>
            </a:xfrm>
            <a:prstGeom prst="ellipse">
              <a:avLst/>
            </a:prstGeom>
            <a:solidFill>
              <a:srgbClr val="42287C"/>
            </a:solidFill>
            <a:ln>
              <a:gradFill flip="none" rotWithShape="1">
                <a:gsLst>
                  <a:gs pos="0">
                    <a:srgbClr val="CFC2EC"/>
                  </a:gs>
                  <a:gs pos="40000">
                    <a:srgbClr val="42287C"/>
                  </a:gs>
                  <a:gs pos="100000">
                    <a:srgbClr val="2B1A52"/>
                  </a:gs>
                </a:gsLst>
                <a:lin ang="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29" name="Овал 10"/>
            <p:cNvSpPr/>
            <p:nvPr/>
          </p:nvSpPr>
          <p:spPr>
            <a:xfrm>
              <a:off x="10065388" y="2192192"/>
              <a:ext cx="1946792" cy="1943043"/>
            </a:xfrm>
            <a:prstGeom prst="ellipse">
              <a:avLst/>
            </a:prstGeom>
            <a:solidFill>
              <a:srgbClr val="603AB6"/>
            </a:solidFill>
            <a:ln>
              <a:gradFill flip="none" rotWithShape="1">
                <a:gsLst>
                  <a:gs pos="0">
                    <a:srgbClr val="CFC2EC"/>
                  </a:gs>
                  <a:gs pos="76000">
                    <a:srgbClr val="603AB6"/>
                  </a:gs>
                  <a:gs pos="48000">
                    <a:srgbClr val="42287C"/>
                  </a:gs>
                </a:gsLst>
                <a:lin ang="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30" name="TextBox 1"/>
            <p:cNvSpPr/>
            <p:nvPr/>
          </p:nvSpPr>
          <p:spPr>
            <a:xfrm>
              <a:off x="8768084" y="2721729"/>
              <a:ext cx="717643" cy="952653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ru-RU" sz="1400" dirty="0">
                  <a:solidFill>
                    <a:srgbClr val="FFFFFF"/>
                  </a:solidFill>
                  <a:latin typeface="Involve Medium"/>
                </a:rPr>
                <a:t>ТАМ</a:t>
              </a:r>
            </a:p>
            <a:p>
              <a:pPr>
                <a:lnSpc>
                  <a:spcPct val="100000"/>
                </a:lnSpc>
              </a:pPr>
              <a:r>
                <a:rPr lang="ru-RU" sz="1400" dirty="0">
                  <a:solidFill>
                    <a:srgbClr val="FFFFFF"/>
                  </a:solidFill>
                  <a:latin typeface="Involve Medium"/>
                </a:rPr>
                <a:t>106,4 млрд. руб.</a:t>
              </a:r>
            </a:p>
          </p:txBody>
        </p:sp>
        <p:sp>
          <p:nvSpPr>
            <p:cNvPr id="131" name="TextBox 15"/>
            <p:cNvSpPr/>
            <p:nvPr/>
          </p:nvSpPr>
          <p:spPr>
            <a:xfrm>
              <a:off x="9506608" y="2721728"/>
              <a:ext cx="627103" cy="952653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r>
                <a:rPr lang="ru-RU" sz="1400" dirty="0">
                  <a:solidFill>
                    <a:srgbClr val="FFFFFF"/>
                  </a:solidFill>
                  <a:latin typeface="Involve Medium"/>
                </a:rPr>
                <a:t>SAM </a:t>
              </a:r>
            </a:p>
            <a:p>
              <a:r>
                <a:rPr lang="ru-RU" sz="1400" dirty="0">
                  <a:solidFill>
                    <a:srgbClr val="FFFFFF"/>
                  </a:solidFill>
                  <a:latin typeface="Involve Medium"/>
                </a:rPr>
                <a:t>26,6 млрд. руб</a:t>
              </a:r>
              <a:r>
                <a:rPr lang="ru-RU" sz="1050" b="0" u="none" strike="noStrike" dirty="0">
                  <a:solidFill>
                    <a:schemeClr val="lt1"/>
                  </a:solidFill>
                  <a:effectLst/>
                  <a:uFillTx/>
                  <a:latin typeface="Century Gothic"/>
                  <a:ea typeface="Gilroy-Light"/>
                </a:rPr>
                <a:t>.</a:t>
              </a:r>
              <a:endParaRPr lang="ru-RU" sz="1050" b="0" u="none" strike="noStrike" dirty="0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" name="TextBox 16"/>
            <p:cNvSpPr/>
            <p:nvPr/>
          </p:nvSpPr>
          <p:spPr>
            <a:xfrm>
              <a:off x="10463132" y="2791475"/>
              <a:ext cx="1151303" cy="73721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ru-RU" sz="1400" dirty="0">
                  <a:solidFill>
                    <a:srgbClr val="FFFFFF"/>
                  </a:solidFill>
                  <a:latin typeface="Involve Medium"/>
                </a:rPr>
                <a:t>SOM </a:t>
              </a:r>
              <a:endParaRPr lang="en-US" sz="1400" dirty="0">
                <a:solidFill>
                  <a:srgbClr val="FFFFFF"/>
                </a:solidFill>
                <a:latin typeface="Involve Medium"/>
              </a:endParaRPr>
            </a:p>
            <a:p>
              <a:pPr algn="ctr" defTabSz="914400">
                <a:lnSpc>
                  <a:spcPct val="100000"/>
                </a:lnSpc>
              </a:pPr>
              <a:r>
                <a:rPr lang="ru-RU" sz="1400" dirty="0">
                  <a:solidFill>
                    <a:srgbClr val="FFFFFF"/>
                  </a:solidFill>
                  <a:latin typeface="Involve Medium"/>
                </a:rPr>
                <a:t>931 млн. руб.</a:t>
              </a:r>
            </a:p>
          </p:txBody>
        </p:sp>
      </p:grpSp>
      <p:sp>
        <p:nvSpPr>
          <p:cNvPr id="133" name="TextBox 17"/>
          <p:cNvSpPr/>
          <p:nvPr/>
        </p:nvSpPr>
        <p:spPr>
          <a:xfrm>
            <a:off x="8421424" y="4866470"/>
            <a:ext cx="3516808" cy="159898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/>
            <a:r>
              <a:rPr lang="ru-RU" sz="1400" dirty="0">
                <a:solidFill>
                  <a:srgbClr val="FFFFFF"/>
                </a:solidFill>
                <a:latin typeface="Involve Medium"/>
              </a:rPr>
              <a:t>ТАМ – Российский рынок промышленной робототехники</a:t>
            </a:r>
            <a:endParaRPr lang="en-US" sz="1400" dirty="0">
              <a:solidFill>
                <a:srgbClr val="FFFFFF"/>
              </a:solidFill>
              <a:latin typeface="Involve Medium"/>
            </a:endParaRPr>
          </a:p>
          <a:p>
            <a:pPr algn="ctr" defTabSz="914400"/>
            <a:endParaRPr lang="ru-RU" sz="1400" dirty="0">
              <a:solidFill>
                <a:srgbClr val="FFFFFF"/>
              </a:solidFill>
              <a:latin typeface="Involve Medium"/>
            </a:endParaRPr>
          </a:p>
          <a:p>
            <a:pPr algn="ctr" defTabSz="914400"/>
            <a:r>
              <a:rPr lang="en-US" sz="1400" dirty="0">
                <a:solidFill>
                  <a:srgbClr val="FFFFFF"/>
                </a:solidFill>
                <a:latin typeface="Involve Medium"/>
              </a:rPr>
              <a:t>SAM – </a:t>
            </a:r>
            <a:r>
              <a:rPr lang="ru-RU" sz="1400" dirty="0">
                <a:solidFill>
                  <a:srgbClr val="FFFFFF"/>
                </a:solidFill>
                <a:latin typeface="Involve Medium"/>
              </a:rPr>
              <a:t>Российский рынок сельскохозяйственной робототехники</a:t>
            </a:r>
            <a:endParaRPr lang="en-US" sz="1400" dirty="0">
              <a:solidFill>
                <a:srgbClr val="FFFFFF"/>
              </a:solidFill>
              <a:latin typeface="Involve Medium"/>
            </a:endParaRPr>
          </a:p>
          <a:p>
            <a:pPr algn="ctr" defTabSz="914400"/>
            <a:endParaRPr lang="ru-RU" sz="1400" dirty="0">
              <a:solidFill>
                <a:srgbClr val="FFFFFF"/>
              </a:solidFill>
              <a:latin typeface="Involve Medium"/>
            </a:endParaRPr>
          </a:p>
          <a:p>
            <a:pPr algn="ctr"/>
            <a:r>
              <a:rPr lang="en-US" sz="1400" dirty="0">
                <a:solidFill>
                  <a:srgbClr val="FFFFFF"/>
                </a:solidFill>
                <a:latin typeface="Involve Medium"/>
              </a:rPr>
              <a:t>SOM</a:t>
            </a:r>
            <a:r>
              <a:rPr lang="ru-RU" sz="1400" dirty="0">
                <a:solidFill>
                  <a:srgbClr val="FFFFFF"/>
                </a:solidFill>
                <a:latin typeface="Involve Medium"/>
              </a:rPr>
              <a:t> – 3.5% планируемого рынка</a:t>
            </a:r>
          </a:p>
        </p:txBody>
      </p:sp>
      <p:graphicFrame>
        <p:nvGraphicFramePr>
          <p:cNvPr id="134" name="Таблица 133"/>
          <p:cNvGraphicFramePr/>
          <p:nvPr>
            <p:extLst>
              <p:ext uri="{D42A27DB-BD31-4B8C-83A1-F6EECF244321}">
                <p14:modId xmlns:p14="http://schemas.microsoft.com/office/powerpoint/2010/main" val="2492141117"/>
              </p:ext>
            </p:extLst>
          </p:nvPr>
        </p:nvGraphicFramePr>
        <p:xfrm>
          <a:off x="222326" y="2048883"/>
          <a:ext cx="8046602" cy="2208240"/>
        </p:xfrm>
        <a:graphic>
          <a:graphicData uri="http://schemas.openxmlformats.org/drawingml/2006/table">
            <a:tbl>
              <a:tblPr/>
              <a:tblGrid>
                <a:gridCol w="20858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5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5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9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847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4816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ru-RU" sz="18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2028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800" b="0" u="none" strike="noStrike" kern="120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1 квартал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8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2 квартал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800" b="0" u="none" strike="noStrike" kern="120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3 квартал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8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4 квартал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107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800" b="0" u="none" strike="noStrike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</a:rPr>
                        <a:t>Конверсия поль</a:t>
                      </a:r>
                      <a:r>
                        <a:rPr lang="ru-RU" sz="18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зо</a:t>
                      </a:r>
                      <a:r>
                        <a:rPr lang="ru-RU" sz="1800" b="0" u="none" strike="noStrike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</a:rPr>
                        <a:t>вателей</a:t>
                      </a:r>
                      <a:endParaRPr lang="ru-RU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Involve Medium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800" b="0" u="none" strike="noStrike" kern="120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20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800" b="0" u="none" strike="noStrike" kern="120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пользователей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8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25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8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пользователей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8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30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8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пользователей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8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40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8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пользователей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8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8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Средний чек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8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4 млн. руб.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800" b="0" u="none" strike="noStrike" kern="120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8 млн. руб.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800" b="0" u="none" strike="noStrike" kern="120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12 млн. руб.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8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28 млн. руб.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79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8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Количество продаж в месяц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8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5%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8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8%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8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10%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8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17,5%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35" name="Picture 7"/>
          <p:cNvPicPr/>
          <p:nvPr/>
        </p:nvPicPr>
        <p:blipFill>
          <a:blip r:embed="rId3"/>
          <a:stretch/>
        </p:blipFill>
        <p:spPr>
          <a:xfrm>
            <a:off x="10352880" y="584280"/>
            <a:ext cx="1223640" cy="571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6" name="Рисунок 9"/>
          <p:cNvPicPr/>
          <p:nvPr/>
        </p:nvPicPr>
        <p:blipFill>
          <a:blip r:embed="rId4"/>
          <a:stretch/>
        </p:blipFill>
        <p:spPr>
          <a:xfrm>
            <a:off x="8540280" y="259200"/>
            <a:ext cx="1343160" cy="10580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1" u="none" strike="noStrike">
                <a:solidFill>
                  <a:srgbClr val="394F9A"/>
                </a:solidFill>
                <a:effectLst/>
                <a:uFillTx/>
                <a:latin typeface="Cygre ExtraBold"/>
                <a:ea typeface="Tahoma"/>
              </a:rPr>
              <a:t>Рынок и потребитель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Прямоугольник: скругленные углы 3"/>
          <p:cNvSpPr/>
          <p:nvPr/>
        </p:nvSpPr>
        <p:spPr>
          <a:xfrm>
            <a:off x="238680" y="212040"/>
            <a:ext cx="11714040" cy="6479640"/>
          </a:xfrm>
          <a:prstGeom prst="roundRect">
            <a:avLst>
              <a:gd name="adj" fmla="val 6033"/>
            </a:avLst>
          </a:prstGeom>
          <a:noFill/>
          <a:ln>
            <a:solidFill>
              <a:srgbClr val="634A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Прямоугольник: скругленные углы 7"/>
          <p:cNvSpPr/>
          <p:nvPr/>
        </p:nvSpPr>
        <p:spPr>
          <a:xfrm>
            <a:off x="654120" y="1953720"/>
            <a:ext cx="11174040" cy="1324800"/>
          </a:xfrm>
          <a:prstGeom prst="roundRect">
            <a:avLst>
              <a:gd name="adj" fmla="val 18301"/>
            </a:avLst>
          </a:prstGeom>
          <a:solidFill>
            <a:srgbClr val="1424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Подзаголовок 2"/>
          <p:cNvSpPr/>
          <p:nvPr/>
        </p:nvSpPr>
        <p:spPr>
          <a:xfrm>
            <a:off x="991800" y="2275560"/>
            <a:ext cx="10647720" cy="77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Involve Medium"/>
              </a:rPr>
              <a:t>Продукт ориентирован на средние и малые тепличные хозяйства Российской Федерации, преимущественно — Южного и Северо-Кавказского федерального округа.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Прямоугольник: скругленные углы 11"/>
          <p:cNvSpPr/>
          <p:nvPr/>
        </p:nvSpPr>
        <p:spPr>
          <a:xfrm>
            <a:off x="654120" y="3432600"/>
            <a:ext cx="5441400" cy="2628720"/>
          </a:xfrm>
          <a:prstGeom prst="roundRect">
            <a:avLst>
              <a:gd name="adj" fmla="val 12072"/>
            </a:avLst>
          </a:prstGeom>
          <a:noFill/>
          <a:ln>
            <a:solidFill>
              <a:srgbClr val="9256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Подзаголовок 2"/>
          <p:cNvSpPr/>
          <p:nvPr/>
        </p:nvSpPr>
        <p:spPr>
          <a:xfrm>
            <a:off x="838080" y="3573000"/>
            <a:ext cx="5257080" cy="83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1600" b="0" u="none" strike="noStrike">
                <a:solidFill>
                  <a:srgbClr val="9256F2"/>
                </a:solidFill>
                <a:effectLst/>
                <a:uFillTx/>
                <a:latin typeface="Involve Medium"/>
              </a:rPr>
              <a:t>Рынок, сегмент рынка, потенциальный потребитель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Прямоугольник: скругленные углы 13"/>
          <p:cNvSpPr/>
          <p:nvPr/>
        </p:nvSpPr>
        <p:spPr>
          <a:xfrm>
            <a:off x="6386760" y="3432600"/>
            <a:ext cx="5441400" cy="2628720"/>
          </a:xfrm>
          <a:prstGeom prst="roundRect">
            <a:avLst>
              <a:gd name="adj" fmla="val 12072"/>
            </a:avLst>
          </a:prstGeom>
          <a:noFill/>
          <a:ln>
            <a:solidFill>
              <a:srgbClr val="394F9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Подзаголовок 2"/>
          <p:cNvSpPr/>
          <p:nvPr/>
        </p:nvSpPr>
        <p:spPr>
          <a:xfrm>
            <a:off x="6570720" y="3573000"/>
            <a:ext cx="5257080" cy="83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1600" b="0" u="none" strike="noStrike">
                <a:solidFill>
                  <a:srgbClr val="394F9A"/>
                </a:solidFill>
                <a:effectLst/>
                <a:uFillTx/>
                <a:latin typeface="Involve Medium"/>
              </a:rPr>
              <a:t>Возможные барьеры для выхода на рынок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Прямоугольник 120"/>
          <p:cNvSpPr/>
          <p:nvPr/>
        </p:nvSpPr>
        <p:spPr>
          <a:xfrm>
            <a:off x="838080" y="3942360"/>
            <a:ext cx="4858920" cy="177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600" b="0" u="none" strike="noStrike">
                <a:solidFill>
                  <a:srgbClr val="C05FD7"/>
                </a:solidFill>
                <a:effectLst/>
                <a:uFillTx/>
                <a:latin typeface="Involve Medium"/>
              </a:rPr>
              <a:t>Категория бизнеса - средний и малый бизнес, индивидуальные предприниматели с малым объёмом производства; 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600" b="0" u="none" strike="noStrike">
                <a:solidFill>
                  <a:srgbClr val="C05FD7"/>
                </a:solidFill>
                <a:effectLst/>
                <a:uFillTx/>
                <a:latin typeface="Involve Medium"/>
              </a:rPr>
              <a:t>Отрасль - сельское хозяйство; 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600" b="0" u="none" strike="noStrike">
                <a:solidFill>
                  <a:srgbClr val="C05FD7"/>
                </a:solidFill>
                <a:effectLst/>
                <a:uFillTx/>
                <a:latin typeface="Involve Medium"/>
              </a:rPr>
              <a:t>Географическое расположение потребителей – Российская федерация; 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600" b="0" u="none" strike="noStrike">
                <a:solidFill>
                  <a:srgbClr val="C05FD7"/>
                </a:solidFill>
                <a:effectLst/>
                <a:uFillTx/>
                <a:latin typeface="Involve Medium"/>
              </a:rPr>
              <a:t>Сектор рынка - B2B, B2C;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2" name="Picture 4"/>
          <p:cNvPicPr/>
          <p:nvPr/>
        </p:nvPicPr>
        <p:blipFill>
          <a:blip r:embed="rId2"/>
          <a:stretch/>
        </p:blipFill>
        <p:spPr>
          <a:xfrm>
            <a:off x="10352520" y="745200"/>
            <a:ext cx="1223640" cy="571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" name="Рисунок 5"/>
          <p:cNvPicPr/>
          <p:nvPr/>
        </p:nvPicPr>
        <p:blipFill>
          <a:blip r:embed="rId3"/>
          <a:stretch/>
        </p:blipFill>
        <p:spPr>
          <a:xfrm>
            <a:off x="400320" y="394200"/>
            <a:ext cx="1343160" cy="105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Прямоугольник 123"/>
          <p:cNvSpPr/>
          <p:nvPr/>
        </p:nvSpPr>
        <p:spPr>
          <a:xfrm>
            <a:off x="6570720" y="3913920"/>
            <a:ext cx="4995720" cy="1887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Involve Medium"/>
              </a:rPr>
              <a:t>Отсутствие производственных мощностей для конвейерного выпуска продукции.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Involve Medium"/>
              </a:rPr>
              <a:t>Отсутствие клиентской базы.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Involve Medium"/>
              </a:rPr>
              <a:t>Отсутствие практического опыта предпринимательской деятельности.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9256F2"/>
            </a:gs>
            <a:gs pos="31000">
              <a:srgbClr val="7F46FD"/>
            </a:gs>
            <a:gs pos="90000">
              <a:srgbClr val="394F9A"/>
            </a:gs>
            <a:gs pos="97000">
              <a:srgbClr val="394F9A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Прямоугольник: скругленные углы 3"/>
          <p:cNvSpPr/>
          <p:nvPr/>
        </p:nvSpPr>
        <p:spPr>
          <a:xfrm>
            <a:off x="238680" y="212040"/>
            <a:ext cx="11714040" cy="6479640"/>
          </a:xfrm>
          <a:prstGeom prst="roundRect">
            <a:avLst>
              <a:gd name="adj" fmla="val 6033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Заголовок 2"/>
          <p:cNvSpPr/>
          <p:nvPr/>
        </p:nvSpPr>
        <p:spPr>
          <a:xfrm>
            <a:off x="1451880" y="527040"/>
            <a:ext cx="9143280" cy="73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 fontScale="77500" lnSpcReduction="19999"/>
          </a:bodyPr>
          <a:lstStyle/>
          <a:p>
            <a:pPr algn="ctr" defTabSz="914400">
              <a:lnSpc>
                <a:spcPct val="90000"/>
              </a:lnSpc>
            </a:pPr>
            <a:r>
              <a:rPr lang="ru-RU" sz="4400" b="1" u="none" strike="noStrike">
                <a:solidFill>
                  <a:schemeClr val="lt1"/>
                </a:solidFill>
                <a:effectLst/>
                <a:uFillTx/>
                <a:latin typeface="Cygre ExtraBold"/>
                <a:ea typeface="Tahoma"/>
              </a:rPr>
              <a:t>Технологичность стартап-проекта</a:t>
            </a:r>
            <a:endParaRPr lang="ru-RU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9" name="Picture 5"/>
          <p:cNvPicPr/>
          <p:nvPr/>
        </p:nvPicPr>
        <p:blipFill>
          <a:blip r:embed="rId2"/>
          <a:stretch/>
        </p:blipFill>
        <p:spPr>
          <a:xfrm>
            <a:off x="10352520" y="745200"/>
            <a:ext cx="1223640" cy="571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0" name="Рисунок 7"/>
          <p:cNvPicPr/>
          <p:nvPr/>
        </p:nvPicPr>
        <p:blipFill>
          <a:blip r:embed="rId3"/>
          <a:stretch/>
        </p:blipFill>
        <p:spPr>
          <a:xfrm>
            <a:off x="400320" y="394200"/>
            <a:ext cx="1343160" cy="105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" name="Прямоугольник 140"/>
          <p:cNvSpPr/>
          <p:nvPr/>
        </p:nvSpPr>
        <p:spPr>
          <a:xfrm>
            <a:off x="484920" y="1706400"/>
            <a:ext cx="5697360" cy="132198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600" b="1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1. Ключевая техническая задача:</a:t>
            </a:r>
            <a:endParaRPr lang="ru-RU" sz="16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6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Определять степень полива растения;</a:t>
            </a:r>
            <a:endParaRPr lang="ru-RU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6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Определять степень химической обработанности растения;</a:t>
            </a:r>
            <a:endParaRPr lang="ru-RU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6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Определять степень зрелости растения;</a:t>
            </a:r>
            <a:endParaRPr lang="ru-RU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6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Определять заболевание растения.</a:t>
            </a:r>
            <a:endParaRPr lang="ru-RU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Прямоугольник 141"/>
          <p:cNvSpPr/>
          <p:nvPr/>
        </p:nvSpPr>
        <p:spPr>
          <a:xfrm>
            <a:off x="459000" y="3091320"/>
            <a:ext cx="5247360" cy="156820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600" b="1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2. Ресурсы проекта:</a:t>
            </a:r>
            <a:endParaRPr lang="ru-RU" sz="16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6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Специалисты из области машинного обучения;</a:t>
            </a:r>
            <a:endParaRPr lang="ru-RU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6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Специалисты из области электроники;</a:t>
            </a:r>
            <a:endParaRPr lang="ru-RU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6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Мощности для обучения искусственного интеллекта;</a:t>
            </a:r>
            <a:endParaRPr lang="ru-RU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6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Платформа </a:t>
            </a:r>
            <a:r>
              <a:rPr lang="ru-RU" sz="1600" b="0" u="none" strike="noStrike" dirty="0" err="1">
                <a:solidFill>
                  <a:srgbClr val="FFFFFF"/>
                </a:solidFill>
                <a:effectLst/>
                <a:uFillTx/>
                <a:latin typeface="Involve Medium"/>
              </a:rPr>
              <a:t>Arduino</a:t>
            </a:r>
            <a:r>
              <a:rPr lang="ru-RU" sz="16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;</a:t>
            </a:r>
            <a:endParaRPr lang="ru-RU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6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Прочая электроника.</a:t>
            </a:r>
            <a:endParaRPr lang="ru-RU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Прямоугольник 142"/>
          <p:cNvSpPr/>
          <p:nvPr/>
        </p:nvSpPr>
        <p:spPr>
          <a:xfrm>
            <a:off x="519840" y="4736520"/>
            <a:ext cx="4588920" cy="181442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600" b="1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3. Затраты на реализацию проекта:</a:t>
            </a:r>
            <a:endParaRPr lang="ru-RU" sz="16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6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Зарплата рабочим;</a:t>
            </a:r>
            <a:endParaRPr lang="ru-RU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6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Лицензии на ПО;</a:t>
            </a:r>
            <a:endParaRPr lang="ru-RU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6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Аренда помещений;</a:t>
            </a:r>
            <a:endParaRPr lang="ru-RU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6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Аренда серверов;</a:t>
            </a:r>
            <a:endParaRPr lang="ru-RU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6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Реклама;</a:t>
            </a:r>
            <a:endParaRPr lang="ru-RU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6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Сырьё для производства.</a:t>
            </a:r>
            <a:endParaRPr lang="ru-RU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Прямоугольник 143"/>
          <p:cNvSpPr/>
          <p:nvPr/>
        </p:nvSpPr>
        <p:spPr>
          <a:xfrm>
            <a:off x="6338520" y="1688760"/>
            <a:ext cx="5515200" cy="30455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600" b="1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4. Планы по формированию команды проекта:</a:t>
            </a:r>
            <a:endParaRPr lang="ru-RU" sz="16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6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1 квартал - обсуждение пунктов договора ГПХ, составление договора ГПХ.</a:t>
            </a:r>
            <a:endParaRPr lang="ru-RU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6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2 квартал - найм сотрудников: </a:t>
            </a:r>
            <a:endParaRPr lang="ru-RU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600" b="0" u="none" strike="noStrike" dirty="0" err="1">
                <a:solidFill>
                  <a:srgbClr val="FFFFFF"/>
                </a:solidFill>
                <a:effectLst/>
                <a:uFillTx/>
                <a:latin typeface="Involve Medium"/>
              </a:rPr>
              <a:t>Шлаев</a:t>
            </a:r>
            <a:r>
              <a:rPr lang="ru-RU" sz="16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 Дмитрий Валерьевич - специалист по электронике и робототехнике. Заведующий кафедрой </a:t>
            </a:r>
            <a:r>
              <a:rPr lang="ru-RU" sz="1600" b="0" u="none" strike="noStrike" dirty="0" err="1">
                <a:solidFill>
                  <a:srgbClr val="FFFFFF"/>
                </a:solidFill>
                <a:effectLst/>
                <a:uFillTx/>
                <a:latin typeface="Involve Medium"/>
              </a:rPr>
              <a:t>инженеринга</a:t>
            </a:r>
            <a:r>
              <a:rPr lang="ru-RU" sz="16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 и IT-решений в АПК </a:t>
            </a:r>
            <a:r>
              <a:rPr lang="ru-RU" sz="1600" b="0" u="none" strike="noStrike" dirty="0" err="1">
                <a:solidFill>
                  <a:srgbClr val="FFFFFF"/>
                </a:solidFill>
                <a:effectLst/>
                <a:uFillTx/>
                <a:latin typeface="Involve Medium"/>
              </a:rPr>
              <a:t>СтГАУ</a:t>
            </a:r>
            <a:r>
              <a:rPr lang="ru-RU" sz="16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. Руководитель ВКР, научный руководитель стартап-проектов. Заключение договора ГПХ.</a:t>
            </a:r>
            <a:endParaRPr lang="ru-RU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600" b="0" u="none" strike="noStrike" dirty="0" err="1">
                <a:solidFill>
                  <a:srgbClr val="FFFFFF"/>
                </a:solidFill>
                <a:effectLst/>
                <a:uFillTx/>
                <a:latin typeface="Involve Medium"/>
              </a:rPr>
              <a:t>Огур</a:t>
            </a:r>
            <a:r>
              <a:rPr lang="ru-RU" sz="16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 Максим Геннадьевич - специалист по машинному обучению. Преподаватель кафедры </a:t>
            </a:r>
            <a:r>
              <a:rPr lang="ru-RU" sz="1600" b="0" u="none" strike="noStrike" dirty="0" err="1">
                <a:solidFill>
                  <a:srgbClr val="FFFFFF"/>
                </a:solidFill>
                <a:effectLst/>
                <a:uFillTx/>
                <a:latin typeface="Involve Medium"/>
              </a:rPr>
              <a:t>инженеринга</a:t>
            </a:r>
            <a:r>
              <a:rPr lang="ru-RU" sz="16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 и IT-решений в АПК </a:t>
            </a:r>
            <a:r>
              <a:rPr lang="ru-RU" sz="1600" b="0" u="none" strike="noStrike" dirty="0" err="1">
                <a:solidFill>
                  <a:srgbClr val="FFFFFF"/>
                </a:solidFill>
                <a:effectLst/>
                <a:uFillTx/>
                <a:latin typeface="Involve Medium"/>
              </a:rPr>
              <a:t>СтГАУ</a:t>
            </a:r>
            <a:r>
              <a:rPr lang="ru-RU" sz="16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. Заключение договора ГПХ.</a:t>
            </a:r>
            <a:endParaRPr lang="ru-RU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Прямоугольник 144"/>
          <p:cNvSpPr/>
          <p:nvPr/>
        </p:nvSpPr>
        <p:spPr>
          <a:xfrm>
            <a:off x="6338520" y="4727880"/>
            <a:ext cx="4727520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600" b="1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5. Планируемый способ получения дохода:</a:t>
            </a:r>
            <a:endParaRPr lang="ru-RU" sz="16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6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Прямая продажа;</a:t>
            </a:r>
            <a:endParaRPr lang="ru-RU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6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Сдача робота в аренду.</a:t>
            </a:r>
            <a:endParaRPr lang="ru-RU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9256F2"/>
            </a:gs>
            <a:gs pos="31000">
              <a:srgbClr val="7F46FD"/>
            </a:gs>
            <a:gs pos="90000">
              <a:srgbClr val="394F9A"/>
            </a:gs>
            <a:gs pos="97000">
              <a:srgbClr val="394F9A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Прямоугольник: скругленные углы 3"/>
          <p:cNvSpPr/>
          <p:nvPr/>
        </p:nvSpPr>
        <p:spPr>
          <a:xfrm>
            <a:off x="238680" y="212040"/>
            <a:ext cx="11714040" cy="6479640"/>
          </a:xfrm>
          <a:prstGeom prst="roundRect">
            <a:avLst>
              <a:gd name="adj" fmla="val 6033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Заголовок 3"/>
          <p:cNvSpPr/>
          <p:nvPr/>
        </p:nvSpPr>
        <p:spPr>
          <a:xfrm>
            <a:off x="1451880" y="527040"/>
            <a:ext cx="9143280" cy="73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 fontScale="77500" lnSpcReduction="19999"/>
          </a:bodyPr>
          <a:lstStyle/>
          <a:p>
            <a:pPr algn="ctr" defTabSz="914400">
              <a:lnSpc>
                <a:spcPct val="90000"/>
              </a:lnSpc>
            </a:pPr>
            <a:r>
              <a:rPr lang="ru-RU" sz="4400" b="1" u="none" strike="noStrike">
                <a:solidFill>
                  <a:schemeClr val="lt1"/>
                </a:solidFill>
                <a:effectLst/>
                <a:uFillTx/>
                <a:latin typeface="Cygre ExtraBold"/>
                <a:ea typeface="Tahoma"/>
              </a:rPr>
              <a:t>Технологичность стартап-проекта</a:t>
            </a:r>
            <a:endParaRPr lang="ru-RU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8" name="Picture 6"/>
          <p:cNvPicPr/>
          <p:nvPr/>
        </p:nvPicPr>
        <p:blipFill>
          <a:blip r:embed="rId2"/>
          <a:stretch/>
        </p:blipFill>
        <p:spPr>
          <a:xfrm>
            <a:off x="10352520" y="745200"/>
            <a:ext cx="1223640" cy="571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" name="Рисунок 8"/>
          <p:cNvPicPr/>
          <p:nvPr/>
        </p:nvPicPr>
        <p:blipFill>
          <a:blip r:embed="rId3"/>
          <a:stretch/>
        </p:blipFill>
        <p:spPr>
          <a:xfrm>
            <a:off x="400320" y="394200"/>
            <a:ext cx="1343160" cy="105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Полилиния: фигура 149"/>
          <p:cNvSpPr/>
          <p:nvPr/>
        </p:nvSpPr>
        <p:spPr>
          <a:xfrm>
            <a:off x="574920" y="2173680"/>
            <a:ext cx="2527920" cy="3921480"/>
          </a:xfrm>
          <a:custGeom>
            <a:avLst/>
            <a:gdLst>
              <a:gd name="textAreaLeft" fmla="*/ 123120 w 2527920"/>
              <a:gd name="textAreaRight" fmla="*/ 2405160 w 2527920"/>
              <a:gd name="textAreaTop" fmla="*/ 123120 h 3921480"/>
              <a:gd name="textAreaBottom" fmla="*/ 3798720 h 3921480"/>
            </a:gdLst>
            <a:ahLst/>
            <a:cxnLst/>
            <a:rect l="textAreaLeft" t="textAreaTop" r="textAreaRight" b="textAreaBottom"/>
            <a:pathLst>
              <a:path w="21600" h="33504">
                <a:moveTo>
                  <a:pt x="3600" y="0"/>
                </a:moveTo>
                <a:arcTo wR="3600" hR="3600" stAng="16200000" swAng="-5400000"/>
                <a:lnTo>
                  <a:pt x="0" y="29904"/>
                </a:lnTo>
                <a:arcTo wR="3600" hR="3600" stAng="10800000" swAng="-5400000"/>
                <a:lnTo>
                  <a:pt x="18000" y="33504"/>
                </a:lnTo>
                <a:arcTo wR="3600" hR="3600" stAng="5400000" swAng="-5400000"/>
                <a:lnTo>
                  <a:pt x="21600" y="3600"/>
                </a:lnTo>
                <a:arcTo wR="3600" hR="3600" stAng="0" swAng="-5400000"/>
                <a:close/>
              </a:path>
            </a:pathLst>
          </a:custGeom>
          <a:solidFill>
            <a:srgbClr val="649FD1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Прямоугольник 150"/>
          <p:cNvSpPr/>
          <p:nvPr/>
        </p:nvSpPr>
        <p:spPr>
          <a:xfrm>
            <a:off x="851760" y="2279160"/>
            <a:ext cx="2008800" cy="59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Involve Medium"/>
              </a:rPr>
              <a:t>Польшин Артем Денисович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Прямоугольник 151"/>
          <p:cNvSpPr/>
          <p:nvPr/>
        </p:nvSpPr>
        <p:spPr>
          <a:xfrm>
            <a:off x="661680" y="2883240"/>
            <a:ext cx="2389320" cy="253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</a:pPr>
            <a:r>
              <a:rPr lang="ru-RU" sz="1100" b="0" u="none" strike="noStrike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Вклад в развитие проекта и квалификация: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Определение цели и гипотезы проекта.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Поиск информации и выбор модели нейронной сети.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Разработка траектории развития.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Поиск и анализ конкурентов.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Расчёт рынков </a:t>
            </a: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TAM, SAM, SOM</a:t>
            </a:r>
            <a:r>
              <a:rPr lang="ru-RU" sz="1100" b="0" u="none" strike="noStrike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.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Участник акселерационной программы «Маяк»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Участник научной лаборатории 3D-моделирования СтГАУ.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Полилиния: фигура 152"/>
          <p:cNvSpPr/>
          <p:nvPr/>
        </p:nvSpPr>
        <p:spPr>
          <a:xfrm>
            <a:off x="3458160" y="2180880"/>
            <a:ext cx="2527920" cy="3921480"/>
          </a:xfrm>
          <a:custGeom>
            <a:avLst/>
            <a:gdLst>
              <a:gd name="textAreaLeft" fmla="*/ 123120 w 2527920"/>
              <a:gd name="textAreaRight" fmla="*/ 2405160 w 2527920"/>
              <a:gd name="textAreaTop" fmla="*/ 123120 h 3921480"/>
              <a:gd name="textAreaBottom" fmla="*/ 3798720 h 3921480"/>
            </a:gdLst>
            <a:ahLst/>
            <a:cxnLst/>
            <a:rect l="textAreaLeft" t="textAreaTop" r="textAreaRight" b="textAreaBottom"/>
            <a:pathLst>
              <a:path w="21600" h="33504">
                <a:moveTo>
                  <a:pt x="3600" y="0"/>
                </a:moveTo>
                <a:arcTo wR="3600" hR="3600" stAng="16200000" swAng="-5400000"/>
                <a:lnTo>
                  <a:pt x="0" y="29904"/>
                </a:lnTo>
                <a:arcTo wR="3600" hR="3600" stAng="10800000" swAng="-5400000"/>
                <a:lnTo>
                  <a:pt x="18000" y="33504"/>
                </a:lnTo>
                <a:arcTo wR="3600" hR="3600" stAng="5400000" swAng="-5400000"/>
                <a:lnTo>
                  <a:pt x="21600" y="3600"/>
                </a:lnTo>
                <a:arcTo wR="3600" hR="3600" stAng="0" swAng="-5400000"/>
                <a:close/>
              </a:path>
            </a:pathLst>
          </a:custGeom>
          <a:solidFill>
            <a:srgbClr val="649FD1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Полилиния: фигура 153"/>
          <p:cNvSpPr/>
          <p:nvPr/>
        </p:nvSpPr>
        <p:spPr>
          <a:xfrm>
            <a:off x="9092160" y="2160720"/>
            <a:ext cx="2527920" cy="3921480"/>
          </a:xfrm>
          <a:custGeom>
            <a:avLst/>
            <a:gdLst>
              <a:gd name="textAreaLeft" fmla="*/ 123120 w 2527920"/>
              <a:gd name="textAreaRight" fmla="*/ 2405160 w 2527920"/>
              <a:gd name="textAreaTop" fmla="*/ 123120 h 3921480"/>
              <a:gd name="textAreaBottom" fmla="*/ 3798720 h 3921480"/>
            </a:gdLst>
            <a:ahLst/>
            <a:cxnLst/>
            <a:rect l="textAreaLeft" t="textAreaTop" r="textAreaRight" b="textAreaBottom"/>
            <a:pathLst>
              <a:path w="21600" h="33504">
                <a:moveTo>
                  <a:pt x="3600" y="0"/>
                </a:moveTo>
                <a:arcTo wR="3600" hR="3600" stAng="16200000" swAng="-5400000"/>
                <a:lnTo>
                  <a:pt x="0" y="29904"/>
                </a:lnTo>
                <a:arcTo wR="3600" hR="3600" stAng="10800000" swAng="-5400000"/>
                <a:lnTo>
                  <a:pt x="18000" y="33504"/>
                </a:lnTo>
                <a:arcTo wR="3600" hR="3600" stAng="5400000" swAng="-5400000"/>
                <a:lnTo>
                  <a:pt x="21600" y="3600"/>
                </a:lnTo>
                <a:arcTo wR="3600" hR="3600" stAng="0" swAng="-5400000"/>
                <a:close/>
              </a:path>
            </a:pathLst>
          </a:custGeom>
          <a:solidFill>
            <a:srgbClr val="649FD1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Полилиния: фигура 154"/>
          <p:cNvSpPr/>
          <p:nvPr/>
        </p:nvSpPr>
        <p:spPr>
          <a:xfrm>
            <a:off x="6271560" y="2157120"/>
            <a:ext cx="2527920" cy="3921480"/>
          </a:xfrm>
          <a:custGeom>
            <a:avLst/>
            <a:gdLst>
              <a:gd name="textAreaLeft" fmla="*/ 123120 w 2527920"/>
              <a:gd name="textAreaRight" fmla="*/ 2405160 w 2527920"/>
              <a:gd name="textAreaTop" fmla="*/ 123120 h 3921480"/>
              <a:gd name="textAreaBottom" fmla="*/ 3798720 h 3921480"/>
            </a:gdLst>
            <a:ahLst/>
            <a:cxnLst/>
            <a:rect l="textAreaLeft" t="textAreaTop" r="textAreaRight" b="textAreaBottom"/>
            <a:pathLst>
              <a:path w="21600" h="33504">
                <a:moveTo>
                  <a:pt x="3600" y="0"/>
                </a:moveTo>
                <a:arcTo wR="3600" hR="3600" stAng="16200000" swAng="-5400000"/>
                <a:lnTo>
                  <a:pt x="0" y="29904"/>
                </a:lnTo>
                <a:arcTo wR="3600" hR="3600" stAng="10800000" swAng="-5400000"/>
                <a:lnTo>
                  <a:pt x="18000" y="33504"/>
                </a:lnTo>
                <a:arcTo wR="3600" hR="3600" stAng="5400000" swAng="-5400000"/>
                <a:lnTo>
                  <a:pt x="21600" y="3600"/>
                </a:lnTo>
                <a:arcTo wR="3600" hR="3600" stAng="0" swAng="-5400000"/>
                <a:close/>
              </a:path>
            </a:pathLst>
          </a:custGeom>
          <a:solidFill>
            <a:srgbClr val="649FD1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Прямоугольник 155"/>
          <p:cNvSpPr/>
          <p:nvPr/>
        </p:nvSpPr>
        <p:spPr>
          <a:xfrm>
            <a:off x="3536280" y="2874960"/>
            <a:ext cx="2389320" cy="257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</a:pPr>
            <a:r>
              <a:rPr lang="ru-RU" sz="1100" b="0" u="none" strike="noStrike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Вклад в развитие проекта и квалификация: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Определение цели и гипотезы проекта.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Поиск и разработка датасетов.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Разработка бизнес-модели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Поиск и анализ конкурентов.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Оформление презентации.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Расчёт рынков </a:t>
            </a: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TAM, SAM, SOM</a:t>
            </a:r>
            <a:r>
              <a:rPr lang="ru-RU" sz="1100" b="0" u="none" strike="noStrike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.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Участник акселерационной программы «Маяк»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Участник научной лаборатории 3D-моделирования СтГАУ.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Прямоугольник 156"/>
          <p:cNvSpPr/>
          <p:nvPr/>
        </p:nvSpPr>
        <p:spPr>
          <a:xfrm>
            <a:off x="3700440" y="2277720"/>
            <a:ext cx="2008800" cy="59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Involve Medium"/>
              </a:rPr>
              <a:t>Оберемко Анна Алексеевна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Прямоугольник 157"/>
          <p:cNvSpPr/>
          <p:nvPr/>
        </p:nvSpPr>
        <p:spPr>
          <a:xfrm>
            <a:off x="6382080" y="2854080"/>
            <a:ext cx="2389320" cy="275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</a:pPr>
            <a:r>
              <a:rPr lang="ru-RU" sz="1100" b="0" u="none" strike="noStrike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Вклад в развитие проекта и квалификация: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Поиск информации и выбор платформы для реализации технической части проекта.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Руководитель научной лаборатории 3D-моделирования СтГАУ.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Заведующий кафедрой инженеринга и IT-решений в АПК СтГАУ.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Руководитель выпускных квалификционных работ, научный руководитель стартап-проектов.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Прямоугольник 158"/>
          <p:cNvSpPr/>
          <p:nvPr/>
        </p:nvSpPr>
        <p:spPr>
          <a:xfrm>
            <a:off x="9230760" y="2885760"/>
            <a:ext cx="2389320" cy="154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</a:pPr>
            <a:r>
              <a:rPr lang="ru-RU" sz="1100" b="0" u="none" strike="noStrike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Вклад в развитие проекта и квалификация: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Поиск информации и выбор модели нейронной сети.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Преподаватель кафедры инженеринга и IT-решений в АПК СтГАУ.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</a:pP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Прямоугольник 159"/>
          <p:cNvSpPr/>
          <p:nvPr/>
        </p:nvSpPr>
        <p:spPr>
          <a:xfrm>
            <a:off x="6494760" y="2256840"/>
            <a:ext cx="2008800" cy="59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Involve Medium"/>
              </a:rPr>
              <a:t>Шлаев Дмитрий Валерьевич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Прямоугольник 160"/>
          <p:cNvSpPr/>
          <p:nvPr/>
        </p:nvSpPr>
        <p:spPr>
          <a:xfrm>
            <a:off x="9352440" y="2288520"/>
            <a:ext cx="2008800" cy="59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Involve Medium"/>
              </a:rPr>
              <a:t>Огур Максим Геннадьевич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Скругленный прямоугольник 1"/>
          <p:cNvSpPr/>
          <p:nvPr/>
        </p:nvSpPr>
        <p:spPr>
          <a:xfrm>
            <a:off x="891720" y="5875920"/>
            <a:ext cx="1913400" cy="410400"/>
          </a:xfrm>
          <a:prstGeom prst="roundRect">
            <a:avLst>
              <a:gd name="adj" fmla="val 11350"/>
            </a:avLst>
          </a:prstGeom>
          <a:solidFill>
            <a:srgbClr val="D5B4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" name="Прямоугольник 162"/>
          <p:cNvSpPr/>
          <p:nvPr/>
        </p:nvSpPr>
        <p:spPr>
          <a:xfrm>
            <a:off x="1013040" y="5946120"/>
            <a:ext cx="1731600" cy="28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Involve Medium"/>
              </a:rPr>
              <a:t>Лидер проекта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Скругленный прямоугольник 2"/>
          <p:cNvSpPr/>
          <p:nvPr/>
        </p:nvSpPr>
        <p:spPr>
          <a:xfrm>
            <a:off x="3809880" y="5859360"/>
            <a:ext cx="1913400" cy="410400"/>
          </a:xfrm>
          <a:prstGeom prst="roundRect">
            <a:avLst>
              <a:gd name="adj" fmla="val 11350"/>
            </a:avLst>
          </a:prstGeom>
          <a:solidFill>
            <a:srgbClr val="D5B4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5" name="Прямоугольник 164"/>
          <p:cNvSpPr/>
          <p:nvPr/>
        </p:nvSpPr>
        <p:spPr>
          <a:xfrm>
            <a:off x="3931200" y="5929560"/>
            <a:ext cx="1731600" cy="28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Involve Medium"/>
              </a:rPr>
              <a:t>Участник проекта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Скругленный прямоугольник 3"/>
          <p:cNvSpPr/>
          <p:nvPr/>
        </p:nvSpPr>
        <p:spPr>
          <a:xfrm>
            <a:off x="6572160" y="5858640"/>
            <a:ext cx="1913400" cy="410400"/>
          </a:xfrm>
          <a:prstGeom prst="roundRect">
            <a:avLst>
              <a:gd name="adj" fmla="val 11350"/>
            </a:avLst>
          </a:prstGeom>
          <a:solidFill>
            <a:srgbClr val="D5B4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7" name="Прямоугольник 166"/>
          <p:cNvSpPr/>
          <p:nvPr/>
        </p:nvSpPr>
        <p:spPr>
          <a:xfrm>
            <a:off x="6536160" y="5928840"/>
            <a:ext cx="1991160" cy="48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Involve Medium"/>
              </a:rPr>
              <a:t>Научный руководитель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Скругленный прямоугольник 5"/>
          <p:cNvSpPr/>
          <p:nvPr/>
        </p:nvSpPr>
        <p:spPr>
          <a:xfrm>
            <a:off x="9421200" y="5866200"/>
            <a:ext cx="1913400" cy="410400"/>
          </a:xfrm>
          <a:prstGeom prst="roundRect">
            <a:avLst>
              <a:gd name="adj" fmla="val 11350"/>
            </a:avLst>
          </a:prstGeom>
          <a:solidFill>
            <a:srgbClr val="D5B4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Прямоугольник 168"/>
          <p:cNvSpPr/>
          <p:nvPr/>
        </p:nvSpPr>
        <p:spPr>
          <a:xfrm>
            <a:off x="9542520" y="5936400"/>
            <a:ext cx="1731600" cy="28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Involve Medium"/>
              </a:rPr>
              <a:t>Участник проекта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9256F2"/>
            </a:gs>
            <a:gs pos="31000">
              <a:srgbClr val="7F46FD"/>
            </a:gs>
            <a:gs pos="90000">
              <a:srgbClr val="394F9A"/>
            </a:gs>
            <a:gs pos="97000">
              <a:srgbClr val="394F9A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Рисунок 6"/>
          <p:cNvPicPr/>
          <p:nvPr/>
        </p:nvPicPr>
        <p:blipFill>
          <a:blip r:embed="rId2"/>
          <a:stretch/>
        </p:blipFill>
        <p:spPr>
          <a:xfrm>
            <a:off x="11021400" y="504000"/>
            <a:ext cx="681120" cy="680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1" name="Прямоугольник: скругленные углы 3"/>
          <p:cNvSpPr/>
          <p:nvPr/>
        </p:nvSpPr>
        <p:spPr>
          <a:xfrm>
            <a:off x="238680" y="212040"/>
            <a:ext cx="11714040" cy="6479640"/>
          </a:xfrm>
          <a:prstGeom prst="roundRect">
            <a:avLst>
              <a:gd name="adj" fmla="val 6033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72" name="Picture 9"/>
          <p:cNvPicPr/>
          <p:nvPr/>
        </p:nvPicPr>
        <p:blipFill>
          <a:blip r:embed="rId3"/>
          <a:stretch/>
        </p:blipFill>
        <p:spPr>
          <a:xfrm>
            <a:off x="9560160" y="556200"/>
            <a:ext cx="1223640" cy="571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3" name="Прямоугольник 12"/>
          <p:cNvSpPr/>
          <p:nvPr/>
        </p:nvSpPr>
        <p:spPr>
          <a:xfrm>
            <a:off x="8757000" y="3633480"/>
            <a:ext cx="12150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rgbClr val="14243E"/>
                </a:solidFill>
                <a:effectLst/>
                <a:uFillTx/>
                <a:latin typeface="Involve SemiBold"/>
              </a:rPr>
              <a:t>Логотип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Google Shape;178;p9"/>
          <p:cNvSpPr/>
          <p:nvPr/>
        </p:nvSpPr>
        <p:spPr>
          <a:xfrm>
            <a:off x="120240" y="538920"/>
            <a:ext cx="6213600" cy="563400"/>
          </a:xfrm>
          <a:prstGeom prst="roundRect">
            <a:avLst>
              <a:gd name="adj" fmla="val 16667"/>
            </a:avLst>
          </a:prstGeom>
          <a:solidFill>
            <a:srgbClr val="13196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671760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2400" b="1" u="none" strike="noStrike">
                <a:solidFill>
                  <a:schemeClr val="lt1"/>
                </a:solidFill>
                <a:effectLst/>
                <a:uFillTx/>
                <a:latin typeface="Century Gothic"/>
                <a:ea typeface="Century Gothic"/>
              </a:rPr>
              <a:t>СПАСИБО ЗА ВНИМАНИЕ!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Google Shape;179;p9"/>
          <p:cNvSpPr/>
          <p:nvPr/>
        </p:nvSpPr>
        <p:spPr>
          <a:xfrm>
            <a:off x="1990959" y="1429200"/>
            <a:ext cx="6964920" cy="654120"/>
          </a:xfrm>
          <a:prstGeom prst="roundRect">
            <a:avLst>
              <a:gd name="adj" fmla="val 50000"/>
            </a:avLst>
          </a:prstGeom>
          <a:solidFill>
            <a:srgbClr val="13196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671760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800" b="1" u="none" strike="noStrike" dirty="0">
                <a:solidFill>
                  <a:schemeClr val="lt1"/>
                </a:solidFill>
                <a:effectLst/>
                <a:uFillTx/>
                <a:latin typeface="Century Gothic"/>
                <a:ea typeface="Century Gothic"/>
              </a:rPr>
              <a:t>Есть вопросы, которые не успели задать?</a:t>
            </a:r>
            <a:endParaRPr lang="ru-RU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Google Shape;180;p9"/>
          <p:cNvSpPr/>
          <p:nvPr/>
        </p:nvSpPr>
        <p:spPr>
          <a:xfrm>
            <a:off x="6333840" y="2092500"/>
            <a:ext cx="3776040" cy="654120"/>
          </a:xfrm>
          <a:prstGeom prst="roundRect">
            <a:avLst>
              <a:gd name="adj" fmla="val 50000"/>
            </a:avLst>
          </a:prstGeom>
          <a:solidFill>
            <a:srgbClr val="868FE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671760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800" b="1" u="none" strike="noStrike">
                <a:solidFill>
                  <a:schemeClr val="lt1"/>
                </a:solidFill>
                <a:effectLst/>
                <a:uFillTx/>
                <a:latin typeface="Century Gothic"/>
                <a:ea typeface="Century Gothic"/>
              </a:rPr>
              <a:t>Свяжитесь с нами!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7" name="Google Shape;182;p9"/>
          <p:cNvPicPr/>
          <p:nvPr/>
        </p:nvPicPr>
        <p:blipFill>
          <a:blip r:embed="rId4"/>
          <a:stretch/>
        </p:blipFill>
        <p:spPr>
          <a:xfrm>
            <a:off x="4710240" y="2913840"/>
            <a:ext cx="3087360" cy="3378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8" name="Изображение 10"/>
          <p:cNvPicPr/>
          <p:nvPr/>
        </p:nvPicPr>
        <p:blipFill>
          <a:blip r:embed="rId5"/>
          <a:stretch/>
        </p:blipFill>
        <p:spPr>
          <a:xfrm>
            <a:off x="8639280" y="2914200"/>
            <a:ext cx="2878920" cy="287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9" name="Изображение 12"/>
          <p:cNvPicPr/>
          <p:nvPr/>
        </p:nvPicPr>
        <p:blipFill>
          <a:blip r:embed="rId6"/>
          <a:stretch/>
        </p:blipFill>
        <p:spPr>
          <a:xfrm>
            <a:off x="8639280" y="5771160"/>
            <a:ext cx="2878920" cy="52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0" name="TextBox 4"/>
          <p:cNvSpPr/>
          <p:nvPr/>
        </p:nvSpPr>
        <p:spPr>
          <a:xfrm>
            <a:off x="238680" y="3372840"/>
            <a:ext cx="4471200" cy="239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16000" indent="-216000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200" b="0" u="none" strike="noStrike">
                <a:solidFill>
                  <a:schemeClr val="lt1"/>
                </a:solidFill>
                <a:effectLst/>
                <a:uFillTx/>
                <a:latin typeface="Involve Medium"/>
                <a:ea typeface="Microsoft YaHei"/>
              </a:rPr>
              <a:t>Номер заявки </a:t>
            </a:r>
            <a:r>
              <a:rPr lang="ru-RU" sz="2200" b="0" u="none" strike="noStrike">
                <a:solidFill>
                  <a:schemeClr val="lt1"/>
                </a:solidFill>
                <a:effectLst/>
                <a:uFillTx/>
                <a:latin typeface="Involve Medium"/>
                <a:ea typeface="Tahoma"/>
              </a:rPr>
              <a:t>— СтС-618733</a:t>
            </a:r>
            <a:endParaRPr lang="ru-RU" sz="2200" b="0" u="none" strike="noStrike">
              <a:solidFill>
                <a:srgbClr val="FFFFFF"/>
              </a:solidFill>
              <a:effectLst/>
              <a:uFillTx/>
              <a:latin typeface="Involve Medium"/>
            </a:endParaRPr>
          </a:p>
          <a:p>
            <a:pPr marL="216000" indent="-216000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200" b="0" u="none" strike="noStrike">
                <a:solidFill>
                  <a:schemeClr val="lt1"/>
                </a:solidFill>
                <a:effectLst/>
                <a:uFillTx/>
                <a:latin typeface="Involve Medium"/>
              </a:rPr>
              <a:t>Польшин Артем Денисович</a:t>
            </a:r>
            <a:endParaRPr lang="ru-RU" sz="2200" b="0" u="none" strike="noStrike">
              <a:solidFill>
                <a:srgbClr val="FFFFFF"/>
              </a:solidFill>
              <a:effectLst/>
              <a:uFillTx/>
              <a:latin typeface="Involve Medium"/>
            </a:endParaRPr>
          </a:p>
          <a:p>
            <a:pPr marL="216000" indent="-216000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200" b="0" u="none" strike="noStrike">
                <a:solidFill>
                  <a:schemeClr val="lt1"/>
                </a:solidFill>
                <a:effectLst/>
                <a:uFillTx/>
                <a:latin typeface="Involve Medium"/>
              </a:rPr>
              <a:t>8-906-492-62-05</a:t>
            </a:r>
            <a:endParaRPr lang="ru-RU" sz="2200" b="0" u="none" strike="noStrike">
              <a:solidFill>
                <a:srgbClr val="FFFFFF"/>
              </a:solidFill>
              <a:effectLst/>
              <a:uFillTx/>
              <a:latin typeface="Involve Medium"/>
            </a:endParaRPr>
          </a:p>
          <a:p>
            <a:pPr marL="216000" indent="-216000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200" b="0" u="none" strike="noStrike">
                <a:solidFill>
                  <a:schemeClr val="lt1"/>
                </a:solidFill>
                <a:effectLst/>
                <a:uFillTx/>
                <a:latin typeface="Involve Medium"/>
              </a:rPr>
              <a:t>89064926205</a:t>
            </a:r>
            <a:r>
              <a:rPr lang="en-US" sz="2200" b="0" u="none" strike="noStrike">
                <a:solidFill>
                  <a:schemeClr val="lt1"/>
                </a:solidFill>
                <a:effectLst/>
                <a:uFillTx/>
                <a:latin typeface="Involve Medium"/>
              </a:rPr>
              <a:t>a@gmail.com</a:t>
            </a:r>
            <a:endParaRPr lang="ru-RU" sz="2200" b="0" u="none" strike="noStrike">
              <a:solidFill>
                <a:srgbClr val="FFFFFF"/>
              </a:solidFill>
              <a:effectLst/>
              <a:uFillTx/>
              <a:latin typeface="Involve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211</TotalTime>
  <Words>1139</Words>
  <Application>Microsoft Office PowerPoint</Application>
  <PresentationFormat>Широкоэкранный</PresentationFormat>
  <Paragraphs>174</Paragraphs>
  <Slides>9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22" baseType="lpstr">
      <vt:lpstr>Aptos</vt:lpstr>
      <vt:lpstr>Arial</vt:lpstr>
      <vt:lpstr>Calibri</vt:lpstr>
      <vt:lpstr>Calibri Light</vt:lpstr>
      <vt:lpstr>Century Gothic</vt:lpstr>
      <vt:lpstr>Cygre ExtraBold</vt:lpstr>
      <vt:lpstr>Involve Medium</vt:lpstr>
      <vt:lpstr>Involve SemiBold</vt:lpstr>
      <vt:lpstr>OpenSymbol</vt:lpstr>
      <vt:lpstr>Symbol</vt:lpstr>
      <vt:lpstr>Times New Roman</vt:lpstr>
      <vt:lpstr>Wingdings</vt:lpstr>
      <vt:lpstr>Тема Office</vt:lpstr>
      <vt:lpstr>Студенческий стартап </vt:lpstr>
      <vt:lpstr>О продукте</vt:lpstr>
      <vt:lpstr>Технологичность стартап-проекта</vt:lpstr>
      <vt:lpstr>Аналоги и конкуренты</vt:lpstr>
      <vt:lpstr>Презентация PowerPoint</vt:lpstr>
      <vt:lpstr>Рынок и потребитель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Консультация №1</dc:title>
  <dc:subject/>
  <dc:creator>Артём Радченко</dc:creator>
  <dc:description/>
  <cp:lastModifiedBy>компьютер</cp:lastModifiedBy>
  <cp:revision>28</cp:revision>
  <dcterms:created xsi:type="dcterms:W3CDTF">2026-02-12T15:37:00Z</dcterms:created>
  <dcterms:modified xsi:type="dcterms:W3CDTF">2026-03-15T19:02:59Z</dcterms:modified>
  <dc:language>ru-RU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7B7741367E084B3399ADB7A88C060550_12</vt:lpwstr>
  </property>
  <property fmtid="{D5CDD505-2E9C-101B-9397-08002B2CF9AE}" pid="3" name="KSOProductBuildVer">
    <vt:lpwstr>1049-12.2.0.23196</vt:lpwstr>
  </property>
  <property fmtid="{D5CDD505-2E9C-101B-9397-08002B2CF9AE}" pid="4" name="PresentationFormat">
    <vt:lpwstr>Широкоэкранный</vt:lpwstr>
  </property>
  <property fmtid="{D5CDD505-2E9C-101B-9397-08002B2CF9AE}" pid="5" name="Slides">
    <vt:i4>8</vt:i4>
  </property>
</Properties>
</file>