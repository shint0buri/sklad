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ЛАБОРАТОРНАЯ РАБОТА №5 · СИСТЕМЫ ЭЛЕКТРОННОГО ДОКУМЕНТООБОРОТА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1887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Визуализация административного регламента предоставления государственной услуги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01752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Оформление и выдача паспортов гражданина РФ, удостоверяющих личность гражданина РФ за пределами территории РФ, содержащих электронный носитель информации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20624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Вариант 16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Выполнила: Оберемко Анна Алексеевна, студентка 3 курса, направление «Информационные системы и технологии в бизнесе»</a:t>
            </a:r>
            <a:endParaRPr lang="en-US" sz="1600" dirty="0"/>
          </a:p>
        </p:txBody>
      </p:sp>
      <p:sp>
        <p:nvSpPr>
          <p:cNvPr id="6" name="c1_leg"/>
          <p:cNvSpPr/>
          <p:nvPr/>
        </p:nvSpPr>
        <p:spPr>
          <a:xfrm>
            <a:off x="7863840" y="4206240"/>
            <a:ext cx="3749040" cy="1005840"/>
          </a:xfrm>
          <a:prstGeom prst="roundRect">
            <a:avLst>
              <a:gd name="adj" fmla="val 10909"/>
            </a:avLst>
          </a:prstGeom>
          <a:solidFill>
            <a:srgbClr val="FDECEC"/>
          </a:solidFill>
          <a:ln w="25400">
            <a:solidFill>
              <a:srgbClr val="C62828"/>
            </a:solidFill>
          </a:ln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Красным выделены этапы и действия, реализующие межведомственное взаимодействие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Общая характеристика услуги</a:t>
            </a:r>
            <a:endParaRPr lang="en-US" sz="2800" dirty="0"/>
          </a:p>
        </p:txBody>
      </p:sp>
      <p:sp>
        <p:nvSpPr>
          <p:cNvPr id="3" name="c1_g0"/>
          <p:cNvSpPr/>
          <p:nvPr/>
        </p:nvSpPr>
        <p:spPr>
          <a:xfrm>
            <a:off x="548640" y="1371600"/>
            <a:ext cx="5440680" cy="1280160"/>
          </a:xfrm>
          <a:prstGeom prst="roundRect">
            <a:avLst>
              <a:gd name="adj" fmla="val 8571"/>
            </a:avLst>
          </a:prstGeom>
          <a:solidFill>
            <a:srgbClr val="EEF1F6"/>
          </a:solidFill>
          <a:ln w="12700">
            <a:solidFill>
              <a:srgbClr val="C9D0DC"/>
            </a:solidFill>
          </a:ln>
        </p:spPr>
        <p:txBody>
          <a:bodyPr wrap="square" lIns="101600" tIns="127000" rIns="127000" bIns="10160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Орган, предоставляющий услугу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МВД России: ГУВМ и подразделения по вопросам миграции территориальных органов</a:t>
            </a:r>
            <a:endParaRPr lang="en-US" sz="1600" dirty="0"/>
          </a:p>
        </p:txBody>
      </p:sp>
      <p:sp>
        <p:nvSpPr>
          <p:cNvPr id="4" name="c1_g1"/>
          <p:cNvSpPr/>
          <p:nvPr/>
        </p:nvSpPr>
        <p:spPr>
          <a:xfrm>
            <a:off x="6172200" y="1371600"/>
            <a:ext cx="5440680" cy="1280160"/>
          </a:xfrm>
          <a:prstGeom prst="roundRect">
            <a:avLst>
              <a:gd name="adj" fmla="val 8571"/>
            </a:avLst>
          </a:prstGeom>
          <a:solidFill>
            <a:srgbClr val="EEF1F6"/>
          </a:solidFill>
          <a:ln w="12700">
            <a:solidFill>
              <a:srgbClr val="C9D0DC"/>
            </a:solidFill>
          </a:ln>
        </p:spPr>
        <p:txBody>
          <a:bodyPr wrap="square" lIns="101600" tIns="127000" rIns="127000" bIns="10160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Регламент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Приказ МВД России от 27.11.2017 № 889</a:t>
            </a:r>
            <a:endParaRPr lang="en-US" sz="1600" dirty="0"/>
          </a:p>
        </p:txBody>
      </p:sp>
      <p:sp>
        <p:nvSpPr>
          <p:cNvPr id="5" name="c2_g2"/>
          <p:cNvSpPr/>
          <p:nvPr/>
        </p:nvSpPr>
        <p:spPr>
          <a:xfrm>
            <a:off x="548640" y="2788920"/>
            <a:ext cx="5440680" cy="1280160"/>
          </a:xfrm>
          <a:prstGeom prst="roundRect">
            <a:avLst>
              <a:gd name="adj" fmla="val 8571"/>
            </a:avLst>
          </a:prstGeom>
          <a:solidFill>
            <a:srgbClr val="EEF1F6"/>
          </a:solidFill>
          <a:ln w="12700">
            <a:solidFill>
              <a:srgbClr val="C9D0DC"/>
            </a:solidFill>
          </a:ln>
        </p:spPr>
        <p:txBody>
          <a:bodyPr wrap="square" lIns="101600" tIns="127000" rIns="127000" bIns="10160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Заявители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Граждане РФ; законные представители несовершеннолетних и недееспособных граждан</a:t>
            </a:r>
            <a:endParaRPr lang="en-US" sz="1600" dirty="0"/>
          </a:p>
        </p:txBody>
      </p:sp>
      <p:sp>
        <p:nvSpPr>
          <p:cNvPr id="6" name="c2_g3"/>
          <p:cNvSpPr/>
          <p:nvPr/>
        </p:nvSpPr>
        <p:spPr>
          <a:xfrm>
            <a:off x="6172200" y="2788920"/>
            <a:ext cx="5440680" cy="1280160"/>
          </a:xfrm>
          <a:prstGeom prst="roundRect">
            <a:avLst>
              <a:gd name="adj" fmla="val 8571"/>
            </a:avLst>
          </a:prstGeom>
          <a:solidFill>
            <a:srgbClr val="EEF1F6"/>
          </a:solidFill>
          <a:ln w="12700">
            <a:solidFill>
              <a:srgbClr val="C9D0DC"/>
            </a:solidFill>
          </a:ln>
        </p:spPr>
        <p:txBody>
          <a:bodyPr wrap="square" lIns="101600" tIns="127000" rIns="127000" bIns="10160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Способы подачи заявления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Лично в подразделении по вопросам миграции, через МФЦ, через Единый портал госуслуг</a:t>
            </a:r>
            <a:endParaRPr lang="en-US" sz="1600" dirty="0"/>
          </a:p>
        </p:txBody>
      </p:sp>
      <p:sp>
        <p:nvSpPr>
          <p:cNvPr id="7" name="c3_g4"/>
          <p:cNvSpPr/>
          <p:nvPr/>
        </p:nvSpPr>
        <p:spPr>
          <a:xfrm>
            <a:off x="548640" y="4206240"/>
            <a:ext cx="5440680" cy="1280160"/>
          </a:xfrm>
          <a:prstGeom prst="roundRect">
            <a:avLst>
              <a:gd name="adj" fmla="val 8571"/>
            </a:avLst>
          </a:prstGeom>
          <a:solidFill>
            <a:srgbClr val="EEF1F6"/>
          </a:solidFill>
          <a:ln w="12700">
            <a:solidFill>
              <a:srgbClr val="C9D0DC"/>
            </a:solidFill>
          </a:ln>
        </p:spPr>
        <p:txBody>
          <a:bodyPr wrap="square" lIns="101600" tIns="127000" rIns="127000" bIns="10160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Срок предоставления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1 месяца по месту жительства; до 4 месяцев по месту пребывания; до 3 месяцев при допуске к гостайне</a:t>
            </a:r>
            <a:endParaRPr lang="en-US" sz="1600" dirty="0"/>
          </a:p>
        </p:txBody>
      </p:sp>
      <p:sp>
        <p:nvSpPr>
          <p:cNvPr id="8" name="c3_g5"/>
          <p:cNvSpPr/>
          <p:nvPr/>
        </p:nvSpPr>
        <p:spPr>
          <a:xfrm>
            <a:off x="6172200" y="4206240"/>
            <a:ext cx="5440680" cy="1280160"/>
          </a:xfrm>
          <a:prstGeom prst="roundRect">
            <a:avLst>
              <a:gd name="adj" fmla="val 8571"/>
            </a:avLst>
          </a:prstGeom>
          <a:solidFill>
            <a:srgbClr val="EEF1F6"/>
          </a:solidFill>
          <a:ln w="12700">
            <a:solidFill>
              <a:srgbClr val="C9D0DC"/>
            </a:solidFill>
          </a:ln>
        </p:spPr>
        <p:txBody>
          <a:bodyPr wrap="square" lIns="101600" tIns="127000" rIns="127000" bIns="10160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Госпошлина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3 500 ₽ (1 500 ₽ до 14 лет); при оплате через Единый портал — с коэффициентом 0,7</a:t>
            </a:r>
            <a:endParaRPr lang="en-US" sz="1600" dirty="0"/>
          </a:p>
        </p:txBody>
      </p:sp>
      <p:sp>
        <p:nvSpPr>
          <p:cNvPr id="9" name="c4_note"/>
          <p:cNvSpPr txBox="1"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услуги: оформленный и выданный паспорт с электронным носителем либо уведомление об отказе. Красным показаны межведомственные этапы.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Административные процедуры: общая схема</a:t>
            </a:r>
            <a:endParaRPr lang="en-US" sz="2800" dirty="0"/>
          </a:p>
        </p:txBody>
      </p:sp>
      <p:sp>
        <p:nvSpPr>
          <p:cNvPr id="3" name="c1_n0"/>
          <p:cNvSpPr/>
          <p:nvPr/>
        </p:nvSpPr>
        <p:spPr>
          <a:xfrm>
            <a:off x="1143000" y="1463040"/>
            <a:ext cx="548640" cy="548640"/>
          </a:xfrm>
          <a:prstGeom prst="ellipse">
            <a:avLst/>
          </a:prstGeom>
          <a:solidFill>
            <a:srgbClr val="1F2A4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c1_b0"/>
          <p:cNvSpPr/>
          <p:nvPr/>
        </p:nvSpPr>
        <p:spPr>
          <a:xfrm>
            <a:off x="548640" y="2286000"/>
            <a:ext cx="1691640" cy="2286000"/>
          </a:xfrm>
          <a:prstGeom prst="roundRect">
            <a:avLst>
              <a:gd name="adj" fmla="val 6486"/>
            </a:avLst>
          </a:prstGeom>
          <a:solidFill>
            <a:srgbClr val="EEF1F6"/>
          </a:solidFill>
          <a:ln w="15875">
            <a:solidFill>
              <a:srgbClr val="C9D0DC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Приём и регистрация заявления и документов</a:t>
            </a:r>
            <a:endParaRPr lang="en-US" sz="1400" dirty="0"/>
          </a:p>
        </p:txBody>
      </p:sp>
      <p:sp>
        <p:nvSpPr>
          <p:cNvPr id="5" name="c2_a0"/>
          <p:cNvSpPr/>
          <p:nvPr/>
        </p:nvSpPr>
        <p:spPr>
          <a:xfrm>
            <a:off x="2258568" y="3429000"/>
            <a:ext cx="146304" cy="0"/>
          </a:xfrm>
          <a:prstGeom prst="line">
            <a:avLst/>
          </a:prstGeom>
          <a:noFill/>
          <a:ln w="31750">
            <a:solidFill>
              <a:srgbClr val="C62828"/>
            </a:solidFill>
            <a:prstDash val="solid"/>
            <a:tailEnd type="triangle"/>
          </a:ln>
        </p:spPr>
      </p:sp>
      <p:sp>
        <p:nvSpPr>
          <p:cNvPr id="6" name="c2_n1"/>
          <p:cNvSpPr/>
          <p:nvPr/>
        </p:nvSpPr>
        <p:spPr>
          <a:xfrm>
            <a:off x="3017520" y="1463040"/>
            <a:ext cx="548640" cy="548640"/>
          </a:xfrm>
          <a:prstGeom prst="ellipse">
            <a:avLst/>
          </a:prstGeom>
          <a:solidFill>
            <a:srgbClr val="C6282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7" name="c2_b1"/>
          <p:cNvSpPr/>
          <p:nvPr/>
        </p:nvSpPr>
        <p:spPr>
          <a:xfrm>
            <a:off x="2423160" y="2286000"/>
            <a:ext cx="1691640" cy="2286000"/>
          </a:xfrm>
          <a:prstGeom prst="roundRect">
            <a:avLst>
              <a:gd name="adj" fmla="val 6486"/>
            </a:avLst>
          </a:prstGeom>
          <a:solidFill>
            <a:srgbClr val="FDECEC"/>
          </a:solidFill>
          <a:ln w="31750">
            <a:solidFill>
              <a:srgbClr val="C62828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Формирование и направление запросов в другие ведомства (СМЭВ)</a:t>
            </a:r>
            <a:endParaRPr lang="en-US" sz="1400" dirty="0"/>
          </a:p>
        </p:txBody>
      </p:sp>
      <p:sp>
        <p:nvSpPr>
          <p:cNvPr id="8" name="c3_a1"/>
          <p:cNvSpPr/>
          <p:nvPr/>
        </p:nvSpPr>
        <p:spPr>
          <a:xfrm>
            <a:off x="4133088" y="3429000"/>
            <a:ext cx="146304" cy="0"/>
          </a:xfrm>
          <a:prstGeom prst="line">
            <a:avLst/>
          </a:prstGeom>
          <a:noFill/>
          <a:ln w="31750">
            <a:solidFill>
              <a:srgbClr val="C62828"/>
            </a:solidFill>
            <a:prstDash val="solid"/>
            <a:tailEnd type="triangle"/>
          </a:ln>
        </p:spPr>
      </p:sp>
      <p:sp>
        <p:nvSpPr>
          <p:cNvPr id="9" name="c3_n2"/>
          <p:cNvSpPr/>
          <p:nvPr/>
        </p:nvSpPr>
        <p:spPr>
          <a:xfrm>
            <a:off x="4892040" y="1463040"/>
            <a:ext cx="548640" cy="548640"/>
          </a:xfrm>
          <a:prstGeom prst="ellipse">
            <a:avLst/>
          </a:prstGeom>
          <a:solidFill>
            <a:srgbClr val="1F2A4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0" name="c3_b2"/>
          <p:cNvSpPr/>
          <p:nvPr/>
        </p:nvSpPr>
        <p:spPr>
          <a:xfrm>
            <a:off x="4297680" y="2286000"/>
            <a:ext cx="1691640" cy="2286000"/>
          </a:xfrm>
          <a:prstGeom prst="roundRect">
            <a:avLst>
              <a:gd name="adj" fmla="val 6486"/>
            </a:avLst>
          </a:prstGeom>
          <a:solidFill>
            <a:srgbClr val="EEF1F6"/>
          </a:solidFill>
          <a:ln w="15875">
            <a:solidFill>
              <a:srgbClr val="C9D0DC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Рассмотрение заявления и принятие решения</a:t>
            </a:r>
            <a:endParaRPr lang="en-US" sz="1400" dirty="0"/>
          </a:p>
        </p:txBody>
      </p:sp>
      <p:sp>
        <p:nvSpPr>
          <p:cNvPr id="11" name="c4_a2"/>
          <p:cNvSpPr/>
          <p:nvPr/>
        </p:nvSpPr>
        <p:spPr>
          <a:xfrm>
            <a:off x="6007608" y="3429000"/>
            <a:ext cx="146304" cy="0"/>
          </a:xfrm>
          <a:prstGeom prst="line">
            <a:avLst/>
          </a:prstGeom>
          <a:noFill/>
          <a:ln w="31750">
            <a:solidFill>
              <a:srgbClr val="5B667A"/>
            </a:solidFill>
            <a:prstDash val="solid"/>
            <a:tailEnd type="triangle"/>
          </a:ln>
        </p:spPr>
      </p:sp>
      <p:sp>
        <p:nvSpPr>
          <p:cNvPr id="12" name="c4_n3"/>
          <p:cNvSpPr/>
          <p:nvPr/>
        </p:nvSpPr>
        <p:spPr>
          <a:xfrm>
            <a:off x="6766560" y="1463040"/>
            <a:ext cx="548640" cy="548640"/>
          </a:xfrm>
          <a:prstGeom prst="ellipse">
            <a:avLst/>
          </a:prstGeom>
          <a:solidFill>
            <a:srgbClr val="1F2A4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3" name="c4_b3"/>
          <p:cNvSpPr/>
          <p:nvPr/>
        </p:nvSpPr>
        <p:spPr>
          <a:xfrm>
            <a:off x="6172200" y="2286000"/>
            <a:ext cx="1691640" cy="2286000"/>
          </a:xfrm>
          <a:prstGeom prst="roundRect">
            <a:avLst>
              <a:gd name="adj" fmla="val 6486"/>
            </a:avLst>
          </a:prstGeom>
          <a:solidFill>
            <a:srgbClr val="EEF1F6"/>
          </a:solidFill>
          <a:ln w="15875">
            <a:solidFill>
              <a:srgbClr val="C9D0DC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Изготовление паспорта с электронным носителем</a:t>
            </a:r>
            <a:endParaRPr lang="en-US" sz="1400" dirty="0"/>
          </a:p>
        </p:txBody>
      </p:sp>
      <p:sp>
        <p:nvSpPr>
          <p:cNvPr id="14" name="c5_a3"/>
          <p:cNvSpPr/>
          <p:nvPr/>
        </p:nvSpPr>
        <p:spPr>
          <a:xfrm>
            <a:off x="7882128" y="3429000"/>
            <a:ext cx="146304" cy="0"/>
          </a:xfrm>
          <a:prstGeom prst="line">
            <a:avLst/>
          </a:prstGeom>
          <a:noFill/>
          <a:ln w="31750">
            <a:solidFill>
              <a:srgbClr val="5B667A"/>
            </a:solidFill>
            <a:prstDash val="solid"/>
            <a:tailEnd type="triangle"/>
          </a:ln>
        </p:spPr>
      </p:sp>
      <p:sp>
        <p:nvSpPr>
          <p:cNvPr id="15" name="c5_n4"/>
          <p:cNvSpPr/>
          <p:nvPr/>
        </p:nvSpPr>
        <p:spPr>
          <a:xfrm>
            <a:off x="8641080" y="1463040"/>
            <a:ext cx="548640" cy="548640"/>
          </a:xfrm>
          <a:prstGeom prst="ellipse">
            <a:avLst/>
          </a:prstGeom>
          <a:solidFill>
            <a:srgbClr val="1F2A4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16" name="c5_b4"/>
          <p:cNvSpPr/>
          <p:nvPr/>
        </p:nvSpPr>
        <p:spPr>
          <a:xfrm>
            <a:off x="8046720" y="2286000"/>
            <a:ext cx="1691640" cy="2286000"/>
          </a:xfrm>
          <a:prstGeom prst="roundRect">
            <a:avLst>
              <a:gd name="adj" fmla="val 6486"/>
            </a:avLst>
          </a:prstGeom>
          <a:solidFill>
            <a:srgbClr val="EEF1F6"/>
          </a:solidFill>
          <a:ln w="15875">
            <a:solidFill>
              <a:srgbClr val="C9D0DC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Выдача паспорта заявителю</a:t>
            </a:r>
            <a:endParaRPr lang="en-US" sz="1400" dirty="0"/>
          </a:p>
        </p:txBody>
      </p:sp>
      <p:sp>
        <p:nvSpPr>
          <p:cNvPr id="17" name="c6_a4"/>
          <p:cNvSpPr/>
          <p:nvPr/>
        </p:nvSpPr>
        <p:spPr>
          <a:xfrm>
            <a:off x="9756648" y="3429000"/>
            <a:ext cx="146304" cy="0"/>
          </a:xfrm>
          <a:prstGeom prst="line">
            <a:avLst/>
          </a:prstGeom>
          <a:noFill/>
          <a:ln w="31750">
            <a:solidFill>
              <a:srgbClr val="5B667A"/>
            </a:solidFill>
            <a:prstDash val="solid"/>
            <a:tailEnd type="triangle"/>
          </a:ln>
        </p:spPr>
      </p:sp>
      <p:sp>
        <p:nvSpPr>
          <p:cNvPr id="18" name="c6_n5"/>
          <p:cNvSpPr/>
          <p:nvPr/>
        </p:nvSpPr>
        <p:spPr>
          <a:xfrm>
            <a:off x="10515600" y="1463040"/>
            <a:ext cx="548640" cy="548640"/>
          </a:xfrm>
          <a:prstGeom prst="ellipse">
            <a:avLst/>
          </a:prstGeom>
          <a:solidFill>
            <a:srgbClr val="1F2A4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19" name="c6_b5"/>
          <p:cNvSpPr/>
          <p:nvPr/>
        </p:nvSpPr>
        <p:spPr>
          <a:xfrm>
            <a:off x="9921240" y="2286000"/>
            <a:ext cx="1691640" cy="228600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5875">
            <a:solidFill>
              <a:srgbClr val="5B667A"/>
            </a:solidFill>
            <a:prstDash val="dash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Уведомление об отказе (при отказе)</a:t>
            </a:r>
            <a:endParaRPr lang="en-US" sz="1400" dirty="0"/>
          </a:p>
        </p:txBody>
      </p:sp>
      <p:sp>
        <p:nvSpPr>
          <p:cNvPr id="20" name="c7_cap"/>
          <p:cNvSpPr txBox="1"/>
          <p:nvPr/>
        </p:nvSpPr>
        <p:spPr>
          <a:xfrm>
            <a:off x="548640" y="5029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Процедура 6 выполняется только при отказе в оформлении или выдаче. Процедура 2 — запросы в другие ведомства через СМЭВ.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Процедура 1. Приём и регистрация заявления</a:t>
            </a:r>
            <a:endParaRPr lang="en-US" sz="2800" dirty="0"/>
          </a:p>
        </p:txBody>
      </p:sp>
      <p:sp>
        <p:nvSpPr>
          <p:cNvPr id="3" name="c1_a"/>
          <p:cNvSpPr/>
          <p:nvPr/>
        </p:nvSpPr>
        <p:spPr>
          <a:xfrm>
            <a:off x="548640" y="1280160"/>
            <a:ext cx="3566160" cy="2697480"/>
          </a:xfrm>
          <a:prstGeom prst="roundRect">
            <a:avLst>
              <a:gd name="adj" fmla="val 4068"/>
            </a:avLst>
          </a:prstGeom>
          <a:solidFill>
            <a:srgbClr val="EEF1F6"/>
          </a:solidFill>
          <a:ln w="12700">
            <a:solidFill>
              <a:srgbClr val="C9D0DC"/>
            </a:solidFill>
          </a:ln>
        </p:spPr>
        <p:txBody>
          <a:bodyPr wrap="square" lIns="101600" tIns="127000" rIns="127000" bIns="10160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Лично в подразделении по вопросам миграции</a:t>
            </a:r>
            <a:endParaRPr lang="en-US" sz="15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Предварительная запись (Госуслуги, телефон)</a:t>
            </a:r>
            <a:endParaRPr lang="en-US" sz="15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Заявление и документы на бумаге</a:t>
            </a:r>
            <a:endParaRPr lang="en-US" sz="15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Талон-подтверждение</a:t>
            </a:r>
            <a:endParaRPr lang="en-US" sz="1500" dirty="0"/>
          </a:p>
        </p:txBody>
      </p:sp>
      <p:sp>
        <p:nvSpPr>
          <p:cNvPr id="4" name="c2_b"/>
          <p:cNvSpPr/>
          <p:nvPr/>
        </p:nvSpPr>
        <p:spPr>
          <a:xfrm>
            <a:off x="4297680" y="1280160"/>
            <a:ext cx="3566160" cy="2697480"/>
          </a:xfrm>
          <a:prstGeom prst="roundRect">
            <a:avLst>
              <a:gd name="adj" fmla="val 4068"/>
            </a:avLst>
          </a:prstGeom>
          <a:solidFill>
            <a:srgbClr val="FDECEC"/>
          </a:solidFill>
          <a:ln w="25400">
            <a:solidFill>
              <a:srgbClr val="C62828"/>
            </a:solidFill>
          </a:ln>
        </p:spPr>
        <p:txBody>
          <a:bodyPr wrap="square" lIns="101600" tIns="127000" rIns="127000" bIns="10160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Через МФЦ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Приём в АИС МФЦ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Обмен с системой «Мир» через СМЭВ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Уведомление о приёме приходит в АИС МФЦ</a:t>
            </a:r>
            <a:endParaRPr lang="en-US" sz="1600" dirty="0"/>
          </a:p>
        </p:txBody>
      </p:sp>
      <p:sp>
        <p:nvSpPr>
          <p:cNvPr id="5" name="c3_c"/>
          <p:cNvSpPr/>
          <p:nvPr/>
        </p:nvSpPr>
        <p:spPr>
          <a:xfrm>
            <a:off x="8046720" y="1280160"/>
            <a:ext cx="3566160" cy="2697480"/>
          </a:xfrm>
          <a:prstGeom prst="roundRect">
            <a:avLst>
              <a:gd name="adj" fmla="val 4068"/>
            </a:avLst>
          </a:prstGeom>
          <a:solidFill>
            <a:srgbClr val="FDECEC"/>
          </a:solidFill>
          <a:ln w="25400">
            <a:solidFill>
              <a:srgbClr val="C62828"/>
            </a:solidFill>
          </a:ln>
        </p:spPr>
        <p:txBody>
          <a:bodyPr wrap="square" lIns="101600" tIns="127000" rIns="127000" bIns="10160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Через Единый портал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 через ЕСИА, простая электронная подпись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Электронное заявление и фото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Затем личный визит: документы, фото, отпечатки (15 дней)</a:t>
            </a:r>
            <a:endParaRPr lang="en-US" sz="1600" dirty="0"/>
          </a:p>
        </p:txBody>
      </p:sp>
      <p:sp>
        <p:nvSpPr>
          <p:cNvPr id="6" name="c4_s0"/>
          <p:cNvSpPr/>
          <p:nvPr/>
        </p:nvSpPr>
        <p:spPr>
          <a:xfrm>
            <a:off x="548640" y="448056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1F2A44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заявления и документов (10 мин)</a:t>
            </a:r>
            <a:endParaRPr lang="en-US" sz="1400" dirty="0"/>
          </a:p>
        </p:txBody>
      </p:sp>
      <p:sp>
        <p:nvSpPr>
          <p:cNvPr id="7" name="c4_r0"/>
          <p:cNvSpPr/>
          <p:nvPr/>
        </p:nvSpPr>
        <p:spPr>
          <a:xfrm>
            <a:off x="3172968" y="5029200"/>
            <a:ext cx="192024" cy="0"/>
          </a:xfrm>
          <a:prstGeom prst="line">
            <a:avLst/>
          </a:prstGeom>
          <a:noFill/>
          <a:ln w="31750">
            <a:solidFill>
              <a:srgbClr val="5B667A"/>
            </a:solidFill>
            <a:prstDash val="solid"/>
            <a:tailEnd type="triangle"/>
          </a:ln>
        </p:spPr>
      </p:sp>
      <p:sp>
        <p:nvSpPr>
          <p:cNvPr id="8" name="c4_s1"/>
          <p:cNvSpPr/>
          <p:nvPr/>
        </p:nvSpPr>
        <p:spPr>
          <a:xfrm>
            <a:off x="3383280" y="448056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1F2A44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Цифровое фото и отпечатки пальцев (с 12 лет)</a:t>
            </a:r>
            <a:endParaRPr lang="en-US" sz="1400" dirty="0"/>
          </a:p>
        </p:txBody>
      </p:sp>
      <p:sp>
        <p:nvSpPr>
          <p:cNvPr id="9" name="c4_r1"/>
          <p:cNvSpPr/>
          <p:nvPr/>
        </p:nvSpPr>
        <p:spPr>
          <a:xfrm>
            <a:off x="6007608" y="5029200"/>
            <a:ext cx="192024" cy="0"/>
          </a:xfrm>
          <a:prstGeom prst="line">
            <a:avLst/>
          </a:prstGeom>
          <a:noFill/>
          <a:ln w="31750">
            <a:solidFill>
              <a:srgbClr val="5B667A"/>
            </a:solidFill>
            <a:prstDash val="solid"/>
            <a:tailEnd type="triangle"/>
          </a:ln>
        </p:spPr>
      </p:sp>
      <p:sp>
        <p:nvSpPr>
          <p:cNvPr id="10" name="c4_s2"/>
          <p:cNvSpPr/>
          <p:nvPr/>
        </p:nvSpPr>
        <p:spPr>
          <a:xfrm>
            <a:off x="6217920" y="448056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1F2A44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Ввод анкеты в систему «Мир»</a:t>
            </a:r>
            <a:endParaRPr lang="en-US" sz="1400" dirty="0"/>
          </a:p>
        </p:txBody>
      </p:sp>
      <p:sp>
        <p:nvSpPr>
          <p:cNvPr id="11" name="c4_r2"/>
          <p:cNvSpPr/>
          <p:nvPr/>
        </p:nvSpPr>
        <p:spPr>
          <a:xfrm>
            <a:off x="8842248" y="5029200"/>
            <a:ext cx="192024" cy="0"/>
          </a:xfrm>
          <a:prstGeom prst="line">
            <a:avLst/>
          </a:prstGeom>
          <a:noFill/>
          <a:ln w="31750">
            <a:solidFill>
              <a:srgbClr val="5B667A"/>
            </a:solidFill>
            <a:prstDash val="solid"/>
            <a:tailEnd type="triangle"/>
          </a:ln>
        </p:spPr>
      </p:sp>
      <p:sp>
        <p:nvSpPr>
          <p:cNvPr id="12" name="c4_s3"/>
          <p:cNvSpPr/>
          <p:nvPr/>
        </p:nvSpPr>
        <p:spPr>
          <a:xfrm>
            <a:off x="9052560" y="448056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1F2A44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Регистрация в течение рабочего дня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Процедура 2. Межведомственные запросы</a:t>
            </a:r>
            <a:endParaRPr lang="en-US" sz="2800" dirty="0"/>
          </a:p>
        </p:txBody>
      </p:sp>
      <p:sp>
        <p:nvSpPr>
          <p:cNvPr id="3" name="c1_hub"/>
          <p:cNvSpPr/>
          <p:nvPr/>
        </p:nvSpPr>
        <p:spPr>
          <a:xfrm>
            <a:off x="548640" y="2194560"/>
            <a:ext cx="3474720" cy="2011680"/>
          </a:xfrm>
          <a:prstGeom prst="roundRect">
            <a:avLst>
              <a:gd name="adj" fmla="val 5455"/>
            </a:avLst>
          </a:prstGeom>
          <a:solidFill>
            <a:srgbClr val="1F2A44"/>
          </a:solidFill>
          <a:ln/>
        </p:spPr>
        <p:txBody>
          <a:bodyPr wrap="square" lIns="127000" tIns="127000" rIns="127000" bIns="1270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Подразделение по вопросам миграции МВД России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«Мир», СМЭВ</a:t>
            </a:r>
            <a:endParaRPr lang="en-US" sz="1800" dirty="0"/>
          </a:p>
        </p:txBody>
      </p:sp>
      <p:sp>
        <p:nvSpPr>
          <p:cNvPr id="4" name="c2_a0"/>
          <p:cNvSpPr/>
          <p:nvPr/>
        </p:nvSpPr>
        <p:spPr>
          <a:xfrm flipV="1">
            <a:off x="4069080" y="1920240"/>
            <a:ext cx="2560320" cy="1280160"/>
          </a:xfrm>
          <a:prstGeom prst="line">
            <a:avLst/>
          </a:prstGeom>
          <a:noFill/>
          <a:ln w="31750">
            <a:solidFill>
              <a:srgbClr val="C62828"/>
            </a:solidFill>
            <a:prstDash val="solid"/>
            <a:tailEnd type="triangle"/>
          </a:ln>
        </p:spPr>
      </p:sp>
      <p:sp>
        <p:nvSpPr>
          <p:cNvPr id="5" name="c2_k0"/>
          <p:cNvSpPr/>
          <p:nvPr/>
        </p:nvSpPr>
        <p:spPr>
          <a:xfrm>
            <a:off x="6675120" y="1280160"/>
            <a:ext cx="4937760" cy="1417320"/>
          </a:xfrm>
          <a:prstGeom prst="roundRect">
            <a:avLst>
              <a:gd name="adj" fmla="val 7742"/>
            </a:avLst>
          </a:prstGeom>
          <a:solidFill>
            <a:srgbClr val="FDECEC"/>
          </a:solidFill>
          <a:ln w="25400">
            <a:solidFill>
              <a:srgbClr val="C62828"/>
            </a:solidFill>
          </a:ln>
        </p:spPr>
        <p:txBody>
          <a:bodyPr wrap="square" lIns="101600" tIns="127000" rIns="127000" bIns="10160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ФСБ России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Есть ли основания для временного ограничения права на выезд (ст. 15 Закона № 114-ФЗ)</a:t>
            </a:r>
            <a:endParaRPr lang="en-US" sz="1600" dirty="0"/>
          </a:p>
        </p:txBody>
      </p:sp>
      <p:sp>
        <p:nvSpPr>
          <p:cNvPr id="6" name="c3_a1"/>
          <p:cNvSpPr/>
          <p:nvPr/>
        </p:nvSpPr>
        <p:spPr>
          <a:xfrm>
            <a:off x="4069080" y="3200400"/>
            <a:ext cx="2560320" cy="320040"/>
          </a:xfrm>
          <a:prstGeom prst="line">
            <a:avLst/>
          </a:prstGeom>
          <a:noFill/>
          <a:ln w="31750">
            <a:solidFill>
              <a:srgbClr val="C62828"/>
            </a:solidFill>
            <a:prstDash val="solid"/>
            <a:tailEnd type="triangle"/>
          </a:ln>
        </p:spPr>
      </p:sp>
      <p:sp>
        <p:nvSpPr>
          <p:cNvPr id="7" name="c3_k1"/>
          <p:cNvSpPr/>
          <p:nvPr/>
        </p:nvSpPr>
        <p:spPr>
          <a:xfrm>
            <a:off x="6675120" y="2880360"/>
            <a:ext cx="4937760" cy="1417320"/>
          </a:xfrm>
          <a:prstGeom prst="roundRect">
            <a:avLst>
              <a:gd name="adj" fmla="val 7742"/>
            </a:avLst>
          </a:prstGeom>
          <a:solidFill>
            <a:srgbClr val="FDECEC"/>
          </a:solidFill>
          <a:ln w="25400">
            <a:solidFill>
              <a:srgbClr val="C62828"/>
            </a:solidFill>
          </a:ln>
        </p:spPr>
        <p:txBody>
          <a:bodyPr wrap="square" lIns="101600" tIns="127000" rIns="127000" bIns="10160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Военный комиссариат (Минобороны)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Сведения о воинском учёте и призыве заявителя</a:t>
            </a:r>
            <a:endParaRPr lang="en-US" sz="1600" dirty="0"/>
          </a:p>
        </p:txBody>
      </p:sp>
      <p:sp>
        <p:nvSpPr>
          <p:cNvPr id="8" name="c4_a2"/>
          <p:cNvSpPr/>
          <p:nvPr/>
        </p:nvSpPr>
        <p:spPr>
          <a:xfrm>
            <a:off x="4069080" y="3200400"/>
            <a:ext cx="2560320" cy="1920240"/>
          </a:xfrm>
          <a:prstGeom prst="line">
            <a:avLst/>
          </a:prstGeom>
          <a:noFill/>
          <a:ln w="31750">
            <a:solidFill>
              <a:srgbClr val="C62828"/>
            </a:solidFill>
            <a:prstDash val="solid"/>
            <a:tailEnd type="triangle"/>
          </a:ln>
        </p:spPr>
      </p:sp>
      <p:sp>
        <p:nvSpPr>
          <p:cNvPr id="9" name="c4_k2"/>
          <p:cNvSpPr/>
          <p:nvPr/>
        </p:nvSpPr>
        <p:spPr>
          <a:xfrm>
            <a:off x="6675120" y="4480560"/>
            <a:ext cx="4937760" cy="1417320"/>
          </a:xfrm>
          <a:prstGeom prst="roundRect">
            <a:avLst>
              <a:gd name="adj" fmla="val 7742"/>
            </a:avLst>
          </a:prstGeom>
          <a:solidFill>
            <a:srgbClr val="FDECEC"/>
          </a:solidFill>
          <a:ln w="25400">
            <a:solidFill>
              <a:srgbClr val="C62828"/>
            </a:solidFill>
          </a:ln>
        </p:spPr>
        <p:txBody>
          <a:bodyPr wrap="square" lIns="101600" tIns="127000" rIns="127000" bIns="10160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ГИС ГМП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Сведения об уплате госпошлины, если квитанцию заявитель не приложил</a:t>
            </a:r>
            <a:endParaRPr lang="en-US" sz="1600" dirty="0"/>
          </a:p>
        </p:txBody>
      </p:sp>
      <p:sp>
        <p:nvSpPr>
          <p:cNvPr id="10" name="c5_n"/>
          <p:cNvSpPr txBox="1"/>
          <p:nvPr/>
        </p:nvSpPr>
        <p:spPr>
          <a:xfrm>
            <a:off x="548640" y="58064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Заявитель не обязан сам собирать эти сведения: ведомство запрашивает их в рамках СМЭВ. Срок процедуры — до 15 календарных дней при подаче по месту жительства.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Процедуры 3–6: решение, выдача, отказ</a:t>
            </a:r>
            <a:endParaRPr lang="en-US" sz="2800" dirty="0"/>
          </a:p>
        </p:txBody>
      </p:sp>
      <p:sp>
        <p:nvSpPr>
          <p:cNvPr id="3" name="c1_a"/>
          <p:cNvSpPr/>
          <p:nvPr/>
        </p:nvSpPr>
        <p:spPr>
          <a:xfrm>
            <a:off x="548640" y="1280160"/>
            <a:ext cx="5440680" cy="2194560"/>
          </a:xfrm>
          <a:prstGeom prst="roundRect">
            <a:avLst>
              <a:gd name="adj" fmla="val 5000"/>
            </a:avLst>
          </a:prstGeom>
          <a:solidFill>
            <a:srgbClr val="EEF1F6"/>
          </a:solidFill>
          <a:ln w="12700">
            <a:solidFill>
              <a:srgbClr val="C9D0DC"/>
            </a:solidFill>
          </a:ln>
        </p:spPr>
        <p:txBody>
          <a:bodyPr wrap="square" lIns="101600" tIns="127000" rIns="127000" bIns="10160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Рассмотрение и решение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ограничений на выезд и согласия законного представителя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Учёт ответов ФСБ, военкомата и ГИС ГМП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оформить паспорт или отказать</a:t>
            </a:r>
            <a:endParaRPr lang="en-US" sz="1600" dirty="0"/>
          </a:p>
        </p:txBody>
      </p:sp>
      <p:sp>
        <p:nvSpPr>
          <p:cNvPr id="4" name="c2_b"/>
          <p:cNvSpPr/>
          <p:nvPr/>
        </p:nvSpPr>
        <p:spPr>
          <a:xfrm>
            <a:off x="6172200" y="1280160"/>
            <a:ext cx="5440680" cy="2194560"/>
          </a:xfrm>
          <a:prstGeom prst="roundRect">
            <a:avLst>
              <a:gd name="adj" fmla="val 5000"/>
            </a:avLst>
          </a:prstGeom>
          <a:solidFill>
            <a:srgbClr val="EEF1F6"/>
          </a:solidFill>
          <a:ln w="12700">
            <a:solidFill>
              <a:srgbClr val="C9D0DC"/>
            </a:solidFill>
          </a:ln>
        </p:spPr>
        <p:txBody>
          <a:bodyPr wrap="square" lIns="101600" tIns="127000" rIns="127000" bIns="10160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Изготовление паспорта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Паспорт оформляется после получения всех документов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Фото и отпечатки записываются на электронный носитель</a:t>
            </a:r>
            <a:endParaRPr lang="en-US" sz="1600" dirty="0"/>
          </a:p>
        </p:txBody>
      </p:sp>
      <p:sp>
        <p:nvSpPr>
          <p:cNvPr id="5" name="c3_c"/>
          <p:cNvSpPr/>
          <p:nvPr/>
        </p:nvSpPr>
        <p:spPr>
          <a:xfrm>
            <a:off x="548640" y="3657600"/>
            <a:ext cx="5440680" cy="2377440"/>
          </a:xfrm>
          <a:prstGeom prst="roundRect">
            <a:avLst>
              <a:gd name="adj" fmla="val 4615"/>
            </a:avLst>
          </a:prstGeom>
          <a:solidFill>
            <a:srgbClr val="FDECEC"/>
          </a:solidFill>
          <a:ln w="25400">
            <a:solidFill>
              <a:srgbClr val="C62828"/>
            </a:solidFill>
          </a:ln>
        </p:spPr>
        <p:txBody>
          <a:bodyPr wrap="square" lIns="101600" tIns="127000" rIns="127000" bIns="10160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Выдача паспорта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Выдаётся в день обращения заявителя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Биометрическая верификация и активация микросхемы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 выдачей проверка оплаты пошлины в ГИС ГМП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Через МФЦ — выдача работником МФЦ</a:t>
            </a:r>
            <a:endParaRPr lang="en-US" sz="1600" dirty="0"/>
          </a:p>
        </p:txBody>
      </p:sp>
      <p:sp>
        <p:nvSpPr>
          <p:cNvPr id="6" name="c4_d"/>
          <p:cNvSpPr/>
          <p:nvPr/>
        </p:nvSpPr>
        <p:spPr>
          <a:xfrm>
            <a:off x="6172200" y="3657600"/>
            <a:ext cx="5440680" cy="2377440"/>
          </a:xfrm>
          <a:prstGeom prst="roundRect">
            <a:avLst>
              <a:gd name="adj" fmla="val 4615"/>
            </a:avLst>
          </a:prstGeom>
          <a:solidFill>
            <a:srgbClr val="FDECEC"/>
          </a:solidFill>
          <a:ln w="25400">
            <a:solidFill>
              <a:srgbClr val="C62828"/>
            </a:solidFill>
          </a:ln>
        </p:spPr>
        <p:txBody>
          <a:bodyPr wrap="square" lIns="101600" tIns="127000" rIns="127000" bIns="10160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Уведомление об отказе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Основания: ограничение права на выезд (ст. 15 Закона № 114-ФЗ), несогласие законного представителя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Уведомление направляется через Единый портал или МФЦ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Пошлина подлежит возврату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Итоги: межведомственное взаимодействие</a:t>
            </a:r>
            <a:endParaRPr lang="en-US" sz="2800" dirty="0"/>
          </a:p>
        </p:txBody>
      </p:sp>
      <p:sp>
        <p:nvSpPr>
          <p:cNvPr id="3" name="c1_a"/>
          <p:cNvSpPr/>
          <p:nvPr/>
        </p:nvSpPr>
        <p:spPr>
          <a:xfrm>
            <a:off x="548640" y="1280160"/>
            <a:ext cx="6766560" cy="2743200"/>
          </a:xfrm>
          <a:prstGeom prst="roundRect">
            <a:avLst>
              <a:gd name="adj" fmla="val 4000"/>
            </a:avLst>
          </a:prstGeom>
          <a:solidFill>
            <a:srgbClr val="FDECEC"/>
          </a:solidFill>
          <a:ln w="25400">
            <a:solidFill>
              <a:srgbClr val="C62828"/>
            </a:solidFill>
          </a:ln>
        </p:spPr>
        <p:txBody>
          <a:bodyPr wrap="square" lIns="101600" tIns="127000" rIns="127000" bIns="10160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задействованы другие системы и ведомства</a:t>
            </a:r>
            <a:endParaRPr lang="en-US" sz="18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Единый портал и ЕСИА: подача заявления и статусы</a:t>
            </a:r>
            <a:endParaRPr lang="en-US" sz="18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СМЭВ: обмен между МФЦ и системой «Мир»</a:t>
            </a:r>
            <a:endParaRPr lang="en-US" sz="18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ФСБ России: сведения об ограничении права на выезд</a:t>
            </a:r>
            <a:endParaRPr lang="en-US" sz="18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Военный комиссариат: воинский учёт</a:t>
            </a:r>
            <a:endParaRPr lang="en-US" sz="18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ГИС ГМП: подтверждение уплаты госпошлины</a:t>
            </a:r>
            <a:endParaRPr lang="en-US" sz="1800" dirty="0"/>
          </a:p>
        </p:txBody>
      </p:sp>
      <p:sp>
        <p:nvSpPr>
          <p:cNvPr id="4" name="c2_b"/>
          <p:cNvSpPr/>
          <p:nvPr/>
        </p:nvSpPr>
        <p:spPr>
          <a:xfrm>
            <a:off x="7498080" y="1280160"/>
            <a:ext cx="4114800" cy="2743200"/>
          </a:xfrm>
          <a:prstGeom prst="roundRect">
            <a:avLst>
              <a:gd name="adj" fmla="val 4000"/>
            </a:avLst>
          </a:prstGeom>
          <a:solidFill>
            <a:srgbClr val="EEF1F6"/>
          </a:solidFill>
          <a:ln w="12700">
            <a:solidFill>
              <a:srgbClr val="C9D0DC"/>
            </a:solidFill>
          </a:ln>
        </p:spPr>
        <p:txBody>
          <a:bodyPr wrap="square" lIns="101600" tIns="127000" rIns="127000" bIns="10160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Источники</a:t>
            </a:r>
            <a:endParaRPr lang="en-US" sz="18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Приказ МВД России от 27.11.2017 № 889</a:t>
            </a:r>
            <a:endParaRPr lang="en-US" sz="18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Федеральный закон от 15.08.1996 № 114-ФЗ</a:t>
            </a:r>
            <a:endParaRPr lang="en-US" sz="18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Федеральный закон от 27.07.2010 № 210-ФЗ</a:t>
            </a:r>
            <a:endParaRPr lang="en-US" sz="18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Методические указания к ЛР №5 по дисциплине «Системы электронного документооборота»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ЛР №5. Загранпаспорт с электронным носителем</dc:title>
  <dc:subject>PptxGenJS Presentation</dc:subject>
  <dc:creator>Оберемко А.А.</dc:creator>
  <cp:lastModifiedBy>Оберемко А.А.</cp:lastModifiedBy>
  <cp:revision>1</cp:revision>
  <dcterms:created xsi:type="dcterms:W3CDTF">2026-10-22T10:04:12Z</dcterms:created>
  <dcterms:modified xsi:type="dcterms:W3CDTF">2026-10-22T10:04:12Z</dcterms:modified>
</cp:coreProperties>
</file>